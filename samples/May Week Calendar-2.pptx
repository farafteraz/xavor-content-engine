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10_88AB4C47.xml" ContentType="application/vnd.ms-powerpoint.comments+xml"/>
  <Override PartName="/ppt/comments/modernComment_101_7B17BF97.xml" ContentType="application/vnd.ms-powerpoint.comments+xml"/>
  <Override PartName="/ppt/comments/modernComment_111_C6AD8F2E.xml" ContentType="application/vnd.ms-powerpoint.comments+xml"/>
  <Override PartName="/ppt/comments/modernComment_103_6F3C75A.xml" ContentType="application/vnd.ms-powerpoint.comments+xml"/>
  <Override PartName="/ppt/comments/modernComment_112_F8711B6B.xml" ContentType="application/vnd.ms-powerpoint.comments+xml"/>
  <Override PartName="/ppt/comments/modernComment_115_33E9A1EF.xml" ContentType="application/vnd.ms-powerpoint.comments+xml"/>
  <Override PartName="/ppt/comments/modernComment_114_8EDCB9D0.xml" ContentType="application/vnd.ms-powerpoint.comments+xml"/>
  <Override PartName="/ppt/comments/modernComment_116_34DE7674.xml" ContentType="application/vnd.ms-powerpoint.comments+xml"/>
  <Override PartName="/ppt/comments/modernComment_102_F96BA2D8.xml" ContentType="application/vnd.ms-powerpoint.comments+xml"/>
  <Override PartName="/ppt/comments/modernComment_117_8F6272D3.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sldIdLst>
    <p:sldId id="271" r:id="rId2"/>
    <p:sldId id="272" r:id="rId3"/>
    <p:sldId id="257" r:id="rId4"/>
    <p:sldId id="273" r:id="rId5"/>
    <p:sldId id="259" r:id="rId6"/>
    <p:sldId id="274" r:id="rId7"/>
    <p:sldId id="277" r:id="rId8"/>
    <p:sldId id="276" r:id="rId9"/>
    <p:sldId id="278" r:id="rId10"/>
    <p:sldId id="258" r:id="rId11"/>
    <p:sldId id="279" r:id="rId12"/>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36791EA-26DF-436A-9E35-C26A1CF61E48}">
          <p14:sldIdLst>
            <p14:sldId id="271"/>
            <p14:sldId id="272"/>
            <p14:sldId id="257"/>
            <p14:sldId id="273"/>
            <p14:sldId id="259"/>
            <p14:sldId id="274"/>
          </p14:sldIdLst>
        </p14:section>
        <p14:section name="Untitled Section" id="{A8792B49-01A6-4CED-9A3E-408A6BBB3050}">
          <p14:sldIdLst>
            <p14:sldId id="277"/>
            <p14:sldId id="276"/>
            <p14:sldId id="278"/>
            <p14:sldId id="258"/>
            <p14:sldId id="279"/>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FFDDE07-5FA9-97A5-3671-43C791879112}" name="Shaiza Nasir Raja" initials="SR" userId="S::shaiza@xavor.com::4f3801c3-b8b2-4ddf-8849-c27d26927d64" providerId="AD"/>
  <p188:author id="{511B74FC-EA80-6A3E-8C00-3B1FC46B33C2}" name="Azeem Faheem" initials="AF" userId="S::afaheem@xavor.com::7843dfc6-7cc4-41a4-a087-bc5505c0f93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8F50CC-15E1-78AD-54C6-94DC1F9C7F12}" v="294" dt="2026-05-25T10:53:14.441"/>
    <p1510:client id="{8E70E67C-1822-2CAD-E2D3-269522C14C46}" v="1524" dt="2026-05-25T06:00:05.8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omments/modernComment_101_7B17BF97.xml><?xml version="1.0" encoding="utf-8"?>
<p188:cmLst xmlns:a="http://schemas.openxmlformats.org/drawingml/2006/main" xmlns:r="http://schemas.openxmlformats.org/officeDocument/2006/relationships" xmlns:p188="http://schemas.microsoft.com/office/powerpoint/2018/8/main">
  <p188:cm id="{1BF2A2C5-663F-434F-BD23-CDBF62B2BFE4}" authorId="{511B74FC-EA80-6A3E-8C00-3B1FC46B33C2}" created="2026-05-18T11:23:43.564">
    <ac:deMkLst xmlns:ac="http://schemas.microsoft.com/office/drawing/2013/main/command">
      <pc:docMk xmlns:pc="http://schemas.microsoft.com/office/powerpoint/2013/main/command"/>
      <pc:sldMk xmlns:pc="http://schemas.microsoft.com/office/powerpoint/2013/main/command" cId="2065153943" sldId="257"/>
      <ac:spMk id="2" creationId="{5E0E258C-6B28-D187-21F3-D8DD4D85A01C}"/>
    </ac:deMkLst>
    <p188:txBody>
      <a:bodyPr/>
      <a:lstStyle/>
      <a:p>
        <a:r>
          <a:rPr lang="en-GB"/>
          <a:t>Post idea for carousel: One platform adds an assistant, another adds automation, a business unit builds a custom agent. Soon, agents act without a shared operating model.</a:t>
        </a:r>
      </a:p>
    </p188:txBody>
  </p188:cm>
</p188:cmLst>
</file>

<file path=ppt/comments/modernComment_102_F96BA2D8.xml><?xml version="1.0" encoding="utf-8"?>
<p188:cmLst xmlns:a="http://schemas.openxmlformats.org/drawingml/2006/main" xmlns:r="http://schemas.openxmlformats.org/officeDocument/2006/relationships" xmlns:p188="http://schemas.microsoft.com/office/powerpoint/2018/8/main">
  <p188:cm id="{309B9FED-9FD0-40B5-A733-FBA6DEA86A0F}" authorId="{0FFDDE07-5FA9-97A5-3671-43C791879112}" created="2026-05-12T06:04:44.496">
    <pc:sldMkLst xmlns:pc="http://schemas.microsoft.com/office/powerpoint/2013/main/command">
      <pc:docMk/>
      <pc:sldMk cId="4184580824" sldId="258"/>
    </pc:sldMkLst>
    <p188:txBody>
      <a:bodyPr/>
      <a:lstStyle/>
      <a:p>
        <a:r>
          <a:rPr lang="en-US"/>
          <a:t>Post Idea Carousel: Why Manufacturing’s AI Moment Is Happening in PLM, Not Just ERP PLM holds product truth. As AI
enters engineering and manufacturing workflows, agents need product context from systems like Aras, Oracle Agile etc​
Caption: Manufacturing teams are exploring AI fast, but one question matters most:
Does the AI understand the product behind the process?
PLM gives AI the product context it needs to support better decisions across engineering and manufacturing.
Swipe through the carousel to see how PLM-connected AI can help teams move from scattered data to smarter action.
#Manufacturing #AI #PLM #DigitalTransformation #ProductLifecycleManagement #Engineering</a:t>
        </a:r>
      </a:p>
    </p188:txBody>
  </p188:cm>
</p188:cmLst>
</file>

<file path=ppt/comments/modernComment_103_6F3C75A.xml><?xml version="1.0" encoding="utf-8"?>
<p188:cmLst xmlns:a="http://schemas.openxmlformats.org/drawingml/2006/main" xmlns:r="http://schemas.openxmlformats.org/officeDocument/2006/relationships" xmlns:p188="http://schemas.microsoft.com/office/powerpoint/2018/8/main">
  <p188:cm id="{D2DAEA2F-D829-48A4-BF64-E5F16749EFC2}" authorId="{0FFDDE07-5FA9-97A5-3671-43C791879112}" created="2026-05-12T08:08:52.375">
    <ac:deMkLst xmlns:ac="http://schemas.microsoft.com/office/drawing/2013/main/command">
      <pc:docMk xmlns:pc="http://schemas.microsoft.com/office/powerpoint/2013/main/command"/>
      <pc:sldMk xmlns:pc="http://schemas.microsoft.com/office/powerpoint/2013/main/command" cId="116639578" sldId="259"/>
      <ac:spMk id="8" creationId="{3608BC10-FFE7-C380-6B7B-D172E777C3A3}"/>
    </ac:deMkLst>
    <p188:txBody>
      <a:bodyPr/>
      <a:lstStyle/>
      <a:p>
        <a:r>
          <a:rPr lang="en-US"/>
          <a:t>Caption:
Platform agents work well for simple tasks.
But enterprise workflows are far more complex. They involve multiple systems, approvals, teams, and decision points that require deeper coordination.
That is why businesses need AI built around how work actually happens across the organization.
#EnterpriseAI #AIAgents #WorkflowAutomation #AIStrategy</a:t>
        </a:r>
      </a:p>
    </p188:txBody>
  </p188:cm>
</p188:cmLst>
</file>

<file path=ppt/comments/modernComment_110_88AB4C47.xml><?xml version="1.0" encoding="utf-8"?>
<p188:cmLst xmlns:a="http://schemas.openxmlformats.org/drawingml/2006/main" xmlns:r="http://schemas.openxmlformats.org/officeDocument/2006/relationships" xmlns:p188="http://schemas.microsoft.com/office/powerpoint/2018/8/main">
  <p188:cm id="{B0A564D5-95AD-4F6B-9002-87FE11F3CF2E}" authorId="{511B74FC-EA80-6A3E-8C00-3B1FC46B33C2}" created="2026-05-12T10:39:16.086">
    <pc:sldMkLst xmlns:pc="http://schemas.microsoft.com/office/powerpoint/2013/main/command">
      <pc:docMk/>
      <pc:sldMk cId="2292927559" sldId="272"/>
    </pc:sldMkLst>
    <p188:txBody>
      <a:bodyPr/>
      <a:lstStyle/>
      <a:p>
        <a:r>
          <a:rPr lang="en-GB"/>
          <a:t>Salesforce Agentforce can create agents to automate any task in the CRM. Just think of any use case, and you can create Salesforce agents that do the work for you. 
But telling the agents what do to and how to do it is up to you. Watch why the right data access and proper guardrails are necessary to properly deploy Salesforce-native agents. </a:t>
        </a:r>
      </a:p>
    </p188:txBody>
  </p188:cm>
</p188:cmLst>
</file>

<file path=ppt/comments/modernComment_111_C6AD8F2E.xml><?xml version="1.0" encoding="utf-8"?>
<p188:cmLst xmlns:a="http://schemas.openxmlformats.org/drawingml/2006/main" xmlns:r="http://schemas.openxmlformats.org/officeDocument/2006/relationships" xmlns:p188="http://schemas.microsoft.com/office/powerpoint/2018/8/main">
  <p188:cm id="{1C554929-2F65-499D-9B6B-E64F58B0431D}" authorId="{511B74FC-EA80-6A3E-8C00-3B1FC46B33C2}" created="2026-05-18T08:29:10.404">
    <pc:sldMkLst xmlns:pc="http://schemas.microsoft.com/office/powerpoint/2013/main/command">
      <pc:docMk/>
      <pc:sldMk cId="3333263150" sldId="273"/>
    </pc:sldMkLst>
    <p188:txBody>
      <a:bodyPr/>
      <a:lstStyle/>
      <a:p>
        <a:r>
          <a:rPr lang="en-GB"/>
          <a:t>​
Caption: AI agents are no longer a future roadmap item for PLM. They are now integrated with product records, BOMs, and engineering changes. But without governance, this integration can turn into a liability when you scale your AI agents.​
Our 5 A's framework provides the structure needed to scale AI in Aras and Propel without compromising compliance.</a:t>
        </a:r>
      </a:p>
    </p188:txBody>
  </p188:cm>
</p188:cmLst>
</file>

<file path=ppt/comments/modernComment_112_F8711B6B.xml><?xml version="1.0" encoding="utf-8"?>
<p188:cmLst xmlns:a="http://schemas.openxmlformats.org/drawingml/2006/main" xmlns:r="http://schemas.openxmlformats.org/officeDocument/2006/relationships" xmlns:p188="http://schemas.microsoft.com/office/powerpoint/2018/8/main">
  <p188:cm id="{3BE4C3E7-04CC-48EB-BAA8-0FEB8B711162}" authorId="{511B74FC-EA80-6A3E-8C00-3B1FC46B33C2}" created="2026-05-20T04:26:31.719">
    <pc:sldMkLst xmlns:pc="http://schemas.microsoft.com/office/powerpoint/2013/main/command">
      <pc:docMk/>
      <pc:sldMk cId="4168162155" sldId="274"/>
    </pc:sldMkLst>
    <p188:txBody>
      <a:bodyPr/>
      <a:lstStyle/>
      <a:p>
        <a:r>
          <a:rPr lang="en-GB"/>
          <a:t>AI agents act faster than humans, but that is also a risk when they work in siloes using fragmented data. A connected agentic enterprise brings the shared intelligence that businesses need. It is the layer that connects different platform agents, so they can work in unison with workflow integration and contextual awareness.
Read our blog to learn more what it takes to create a connected agentic enterprise, and how Xavor can help you build one. </a:t>
        </a:r>
      </a:p>
    </p188:txBody>
  </p188:cm>
</p188:cmLst>
</file>

<file path=ppt/comments/modernComment_114_8EDCB9D0.xml><?xml version="1.0" encoding="utf-8"?>
<p188:cmLst xmlns:a="http://schemas.openxmlformats.org/drawingml/2006/main" xmlns:r="http://schemas.openxmlformats.org/officeDocument/2006/relationships" xmlns:p188="http://schemas.microsoft.com/office/powerpoint/2018/8/main">
  <p188:cm id="{5DD2491A-71CD-4D4C-ADBD-8B3F1E21B881}" authorId="{0FFDDE07-5FA9-97A5-3671-43C791879112}" created="2026-05-12T10:40:05.743">
    <pc:sldMkLst xmlns:pc="http://schemas.microsoft.com/office/powerpoint/2013/main/command">
      <pc:docMk/>
      <pc:sldMk cId="2396830160" sldId="276"/>
    </pc:sldMkLst>
    <p188:txBody>
      <a:bodyPr/>
      <a:lstStyle/>
      <a:p>
        <a:r>
          <a:rPr lang="en-US"/>
          <a:t>AI agents are useful, but they become much more valuable when they are connected to the full workflow.
In enterprise environments, work moves across different systems, teams, and approvals. When agents stay limited to one platform, they can only support one part of the process.
The real opportunity is to connect those agents across the business so they can share context, coordinate actions, and support better decisions.
That is where agentic workflows start creating real impact.
#AI #AgenticAI #EnterpriseAI #WorkflowAutomation #AIOrchestration</a:t>
        </a:r>
      </a:p>
    </p188:txBody>
  </p188:cm>
</p188:cmLst>
</file>

<file path=ppt/comments/modernComment_115_33E9A1EF.xml><?xml version="1.0" encoding="utf-8"?>
<p188:cmLst xmlns:a="http://schemas.openxmlformats.org/drawingml/2006/main" xmlns:r="http://schemas.openxmlformats.org/officeDocument/2006/relationships" xmlns:p188="http://schemas.microsoft.com/office/powerpoint/2018/8/main">
  <p188:cm id="{9A21A763-A6E3-4A2B-87DB-3FA24030AB10}" authorId="{511B74FC-EA80-6A3E-8C00-3B1FC46B33C2}" created="2026-05-18T08:35:08.789">
    <pc:sldMkLst xmlns:pc="http://schemas.microsoft.com/office/powerpoint/2013/main/command">
      <pc:docMk/>
      <pc:sldMk cId="870949359" sldId="277"/>
    </pc:sldMkLst>
    <p188:replyLst>
      <p188:reply id="{9152CD96-0261-44B4-BBC7-E43D18C07D42}" authorId="{511B74FC-EA80-6A3E-8C00-3B1FC46B33C2}" created="2026-05-18T11:18:33.875">
        <p188:txBody>
          <a:bodyPr/>
          <a:lstStyle/>
          <a:p>
            <a:r>
              <a:rPr lang="en-GB"/>
              <a:t>Post idea: Physical AI raises the stakes. Agents connected to devices, sensors, robots, labs, factories, or healthcare
workflows require safety loops, validation, monitoring, and engineering discipline.</a:t>
            </a:r>
          </a:p>
        </p188:txBody>
      </p188:reply>
    </p188:replyLst>
    <p188:txBody>
      <a:bodyPr/>
      <a:lstStyle/>
      <a:p>
        <a:r>
          <a:rPr lang="en-GB"/>
          <a:t>Caption: Physical AI is rapidly moving into real-
world environments. However, as its impact
grows, so does the risk. Watch how this shift is
redefining what it takes to build AI that can be
trusted in the environments where it actually
operates.​</a:t>
        </a:r>
      </a:p>
    </p188:txBody>
  </p188:cm>
</p188:cmLst>
</file>

<file path=ppt/comments/modernComment_116_34DE7674.xml><?xml version="1.0" encoding="utf-8"?>
<p188:cmLst xmlns:a="http://schemas.openxmlformats.org/drawingml/2006/main" xmlns:r="http://schemas.openxmlformats.org/officeDocument/2006/relationships" xmlns:p188="http://schemas.microsoft.com/office/powerpoint/2018/8/main">
  <p188:cm id="{2FC6CEFD-8964-4A28-9DE9-BFC44BBF69DE}" authorId="{511B74FC-EA80-6A3E-8C00-3B1FC46B33C2}" created="2026-05-22T07:35:44.283">
    <ac:deMkLst xmlns:ac="http://schemas.microsoft.com/office/drawing/2013/main/command">
      <pc:docMk xmlns:pc="http://schemas.microsoft.com/office/powerpoint/2013/main/command"/>
      <pc:sldMk xmlns:pc="http://schemas.microsoft.com/office/powerpoint/2013/main/command" cId="886994548" sldId="278"/>
      <ac:spMk id="3" creationId="{5528100F-C9A6-B8DE-8CE9-5299DF1F3C68}"/>
    </ac:deMkLst>
    <p188:txBody>
      <a:bodyPr/>
      <a:lstStyle/>
      <a:p>
        <a:r>
          <a:rPr lang="en-GB"/>
          <a:t>Fetching information in Salesforce can be a real challenge for sales teams. You need to go through hundreds of rows and columns to find the right bit of data. 
But in this episode of Solutions Now, we'll show you how you can automate the whole process with agents created in Agentforce using GenAI.</a:t>
        </a:r>
      </a:p>
    </p188:txBody>
  </p188:cm>
</p188:cmLst>
</file>

<file path=ppt/comments/modernComment_117_8F6272D3.xml><?xml version="1.0" encoding="utf-8"?>
<p188:cmLst xmlns:a="http://schemas.openxmlformats.org/drawingml/2006/main" xmlns:r="http://schemas.openxmlformats.org/officeDocument/2006/relationships" xmlns:p188="http://schemas.microsoft.com/office/powerpoint/2018/8/main">
  <p188:cm id="{E4427C03-DDE4-45F5-A2E9-8BAF92C3110E}" authorId="{511B74FC-EA80-6A3E-8C00-3B1FC46B33C2}" created="2026-05-25T05:59:40.957">
    <pc:sldMkLst xmlns:pc="http://schemas.microsoft.com/office/powerpoint/2013/main/command">
      <pc:docMk/>
      <pc:sldMk cId="2405593811" sldId="279"/>
    </pc:sldMkLst>
    <p188:replyLst>
      <p188:reply id="{9DC88DCF-51BE-4868-BE63-82F880EB29FC}" authorId="{511B74FC-EA80-6A3E-8C00-3B1FC46B33C2}" created="2026-05-25T06:00:01.536">
        <p188:txBody>
          <a:bodyPr/>
          <a:lstStyle/>
          <a:p>
            <a:r>
              <a:rPr lang="en-GB"/>
              <a:t>Post Idea Carousel: Show the full Xavor thesis in one workflow: customer issue → ServiceNow workflow → PLM context → AI
recommendation → human approval → logged action → physical workflow ext</a:t>
            </a:r>
          </a:p>
        </p188:txBody>
      </p188:reply>
    </p188:replyLst>
    <p188:txBody>
      <a:bodyPr/>
      <a:lstStyle/>
      <a:p>
        <a:r>
          <a:rPr lang="en-GB"/>
          <a:t>Caption: A connected agentic enterprise together delivers better than all of the individual platform agents that it uses. 
Scroll through to see it yourself how Salesforce agents work in tandem with their ServiceNow and PLM counterparts to solve a common business challenge for manufacturers.  </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08635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2680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16211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6226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0238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480421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77869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30873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13977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22002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33915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7/7/2026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4254807298"/>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10_88AB4C47.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01_7B17BF9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11_C6AD8F2E.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3_6F3C75A.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12_F8711B6B.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15_33E9A1EF.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14_8EDCB9D0.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16_34DE767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02_F96BA2D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117_8F6272D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F4760-39CF-4219-8C9B-AF5CD075ABB4}"/>
              </a:ext>
            </a:extLst>
          </p:cNvPr>
          <p:cNvSpPr>
            <a:spLocks noGrp="1"/>
          </p:cNvSpPr>
          <p:nvPr>
            <p:ph type="ctrTitle"/>
          </p:nvPr>
        </p:nvSpPr>
        <p:spPr/>
        <p:txBody>
          <a:bodyPr/>
          <a:lstStyle/>
          <a:p>
            <a:r>
              <a:rPr lang="en-GB"/>
              <a:t>May Social Media Posts</a:t>
            </a:r>
          </a:p>
        </p:txBody>
      </p:sp>
      <p:sp>
        <p:nvSpPr>
          <p:cNvPr id="3" name="Content Placeholder 2">
            <a:extLst>
              <a:ext uri="{FF2B5EF4-FFF2-40B4-BE49-F238E27FC236}">
                <a16:creationId xmlns:a16="http://schemas.microsoft.com/office/drawing/2014/main" id="{8FDCB202-2023-5EEB-30FE-B940A9F730B4}"/>
              </a:ext>
            </a:extLst>
          </p:cNvPr>
          <p:cNvSpPr>
            <a:spLocks noGrp="1"/>
          </p:cNvSpPr>
          <p:nvPr>
            <p:ph type="subTitle" idx="1"/>
          </p:nvPr>
        </p:nvSpPr>
        <p:spPr/>
        <p:txBody>
          <a:bodyPr vert="horz" lIns="91440" tIns="45720" rIns="91440" bIns="45720" rtlCol="0" anchor="t">
            <a:normAutofit/>
          </a:bodyPr>
          <a:lstStyle/>
          <a:p>
            <a:r>
              <a:rPr lang="en-GB"/>
              <a:t>Week 2,3, and 4</a:t>
            </a:r>
          </a:p>
        </p:txBody>
      </p:sp>
    </p:spTree>
    <p:extLst>
      <p:ext uri="{BB962C8B-B14F-4D97-AF65-F5344CB8AC3E}">
        <p14:creationId xmlns:p14="http://schemas.microsoft.com/office/powerpoint/2010/main" val="1120772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E16D6-77DE-3449-C9DA-811A654EB315}"/>
              </a:ext>
            </a:extLst>
          </p:cNvPr>
          <p:cNvSpPr>
            <a:spLocks noGrp="1"/>
          </p:cNvSpPr>
          <p:nvPr>
            <p:ph type="title"/>
          </p:nvPr>
        </p:nvSpPr>
        <p:spPr/>
        <p:txBody>
          <a:bodyPr/>
          <a:lstStyle/>
          <a:p>
            <a:r>
              <a:rPr lang="en-GB"/>
              <a:t>Wednesday 13 May – Reel </a:t>
            </a:r>
            <a:r>
              <a:rPr lang="en-GB">
                <a:highlight>
                  <a:srgbClr val="008000"/>
                </a:highlight>
              </a:rPr>
              <a:t>(Posted)</a:t>
            </a:r>
          </a:p>
        </p:txBody>
      </p:sp>
      <p:sp>
        <p:nvSpPr>
          <p:cNvPr id="3" name="Content Placeholder 2">
            <a:extLst>
              <a:ext uri="{FF2B5EF4-FFF2-40B4-BE49-F238E27FC236}">
                <a16:creationId xmlns:a16="http://schemas.microsoft.com/office/drawing/2014/main" id="{368CE4A2-E588-AB2D-C660-7ED2A6A57278}"/>
              </a:ext>
            </a:extLst>
          </p:cNvPr>
          <p:cNvSpPr>
            <a:spLocks noGrp="1"/>
          </p:cNvSpPr>
          <p:nvPr>
            <p:ph idx="1"/>
          </p:nvPr>
        </p:nvSpPr>
        <p:spPr/>
        <p:txBody>
          <a:bodyPr vert="horz" lIns="91440" tIns="45720" rIns="91440" bIns="45720" rtlCol="0" anchor="t">
            <a:normAutofit fontScale="92500" lnSpcReduction="20000"/>
          </a:bodyPr>
          <a:lstStyle/>
          <a:p>
            <a:pPr>
              <a:buNone/>
            </a:pPr>
            <a:r>
              <a:rPr lang="en-GB" b="1">
                <a:ea typeface="+mn-lt"/>
                <a:cs typeface="+mn-lt"/>
              </a:rPr>
              <a:t>A Salesforce agent is only as useful as the business context behind it.</a:t>
            </a:r>
            <a:endParaRPr lang="en-US"/>
          </a:p>
          <a:p>
            <a:pPr>
              <a:buNone/>
            </a:pPr>
            <a:r>
              <a:rPr lang="en-GB">
                <a:ea typeface="+mn-lt"/>
                <a:cs typeface="+mn-lt"/>
              </a:rPr>
              <a:t>Without the right data, rules, and guardrails, it can answer — but not reliably act.</a:t>
            </a:r>
            <a:endParaRPr lang="en-GB"/>
          </a:p>
          <a:p>
            <a:pPr>
              <a:buNone/>
            </a:pPr>
            <a:r>
              <a:rPr lang="en-GB" err="1">
                <a:ea typeface="+mn-lt"/>
                <a:cs typeface="+mn-lt"/>
              </a:rPr>
              <a:t>Agentforce</a:t>
            </a:r>
            <a:r>
              <a:rPr lang="en-GB">
                <a:ea typeface="+mn-lt"/>
                <a:cs typeface="+mn-lt"/>
              </a:rPr>
              <a:t> becomes useful when it is grounded in real business parameters.</a:t>
            </a:r>
            <a:endParaRPr lang="en-GB"/>
          </a:p>
          <a:p>
            <a:pPr>
              <a:buNone/>
            </a:pPr>
            <a:r>
              <a:rPr lang="en-GB">
                <a:ea typeface="+mn-lt"/>
                <a:cs typeface="+mn-lt"/>
              </a:rPr>
              <a:t>That is what turns an agent from a chatbot into a CRM action layer — one that can recommend, route, escalate, and act safely.</a:t>
            </a:r>
            <a:endParaRPr lang="en-GB"/>
          </a:p>
          <a:p>
            <a:pPr>
              <a:buNone/>
            </a:pPr>
            <a:r>
              <a:rPr lang="en-GB" err="1">
                <a:ea typeface="+mn-lt"/>
                <a:cs typeface="+mn-lt"/>
              </a:rPr>
              <a:t>Xavor</a:t>
            </a:r>
            <a:r>
              <a:rPr lang="en-GB">
                <a:ea typeface="+mn-lt"/>
                <a:cs typeface="+mn-lt"/>
              </a:rPr>
              <a:t> helps organizations move from </a:t>
            </a:r>
            <a:r>
              <a:rPr lang="en-GB" err="1">
                <a:ea typeface="+mn-lt"/>
                <a:cs typeface="+mn-lt"/>
              </a:rPr>
              <a:t>Agentforce</a:t>
            </a:r>
            <a:r>
              <a:rPr lang="en-GB">
                <a:ea typeface="+mn-lt"/>
                <a:cs typeface="+mn-lt"/>
              </a:rPr>
              <a:t> configuration to Salesforce-native agents that are ready for real users.</a:t>
            </a:r>
            <a:endParaRPr lang="en-GB"/>
          </a:p>
          <a:p>
            <a:pPr>
              <a:buNone/>
            </a:pPr>
            <a:r>
              <a:rPr lang="en-GB">
                <a:ea typeface="+mn-lt"/>
                <a:cs typeface="+mn-lt"/>
              </a:rPr>
              <a:t>Have Salesforce agent use cases in mind? Let’s make them production-ready.</a:t>
            </a:r>
            <a:endParaRPr lang="en-GB"/>
          </a:p>
          <a:p>
            <a:pPr marL="0" indent="0">
              <a:buNone/>
            </a:pPr>
            <a:endParaRPr lang="en-GB"/>
          </a:p>
        </p:txBody>
      </p:sp>
    </p:spTree>
    <p:extLst>
      <p:ext uri="{BB962C8B-B14F-4D97-AF65-F5344CB8AC3E}">
        <p14:creationId xmlns:p14="http://schemas.microsoft.com/office/powerpoint/2010/main" val="2292927559"/>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E258C-6B28-D187-21F3-D8DD4D85A01C}"/>
              </a:ext>
            </a:extLst>
          </p:cNvPr>
          <p:cNvSpPr>
            <a:spLocks noGrp="1"/>
          </p:cNvSpPr>
          <p:nvPr>
            <p:ph type="title"/>
          </p:nvPr>
        </p:nvSpPr>
        <p:spPr>
          <a:xfrm>
            <a:off x="76200" y="5691"/>
            <a:ext cx="10515600" cy="1325563"/>
          </a:xfrm>
        </p:spPr>
        <p:txBody>
          <a:bodyPr>
            <a:normAutofit/>
          </a:bodyPr>
          <a:lstStyle/>
          <a:p>
            <a:r>
              <a:rPr lang="en-GB" sz="3200" b="1"/>
              <a:t>Carousel – Thursday 14 May</a:t>
            </a:r>
            <a:br>
              <a:rPr lang="en-GB" sz="1800" b="1"/>
            </a:br>
            <a:r>
              <a:rPr lang="en-GB" sz="1800">
                <a:highlight>
                  <a:srgbClr val="008000"/>
                </a:highlight>
                <a:ea typeface="+mj-lt"/>
                <a:cs typeface="+mj-lt"/>
              </a:rPr>
              <a:t> (Posted)</a:t>
            </a:r>
          </a:p>
        </p:txBody>
      </p:sp>
      <p:sp>
        <p:nvSpPr>
          <p:cNvPr id="3" name="Content Placeholder 2">
            <a:extLst>
              <a:ext uri="{FF2B5EF4-FFF2-40B4-BE49-F238E27FC236}">
                <a16:creationId xmlns:a16="http://schemas.microsoft.com/office/drawing/2014/main" id="{8F713165-3366-42EF-67E6-62A981B3844A}"/>
              </a:ext>
            </a:extLst>
          </p:cNvPr>
          <p:cNvSpPr>
            <a:spLocks noGrp="1"/>
          </p:cNvSpPr>
          <p:nvPr>
            <p:ph idx="1"/>
          </p:nvPr>
        </p:nvSpPr>
        <p:spPr>
          <a:xfrm>
            <a:off x="76201" y="1336796"/>
            <a:ext cx="4865299" cy="4451979"/>
          </a:xfrm>
        </p:spPr>
        <p:txBody>
          <a:bodyPr vert="horz" lIns="91440" tIns="45720" rIns="91440" bIns="45720" rtlCol="0" anchor="t">
            <a:normAutofit lnSpcReduction="10000"/>
          </a:bodyPr>
          <a:lstStyle/>
          <a:p>
            <a:pPr marL="0" indent="0">
              <a:buNone/>
            </a:pPr>
            <a:r>
              <a:rPr lang="en-GB" sz="2000" b="1">
                <a:ea typeface="+mn-lt"/>
                <a:cs typeface="+mn-lt"/>
              </a:rPr>
              <a:t>Slide 1: </a:t>
            </a:r>
            <a:endParaRPr lang="en-US"/>
          </a:p>
          <a:p>
            <a:pPr marL="0" indent="0">
              <a:buNone/>
            </a:pPr>
            <a:r>
              <a:rPr lang="en-GB" sz="2000" b="1">
                <a:ea typeface="+mn-lt"/>
                <a:cs typeface="+mn-lt"/>
              </a:rPr>
              <a:t>AI Sprawl Starts Quietly</a:t>
            </a:r>
            <a:endParaRPr lang="en-GB"/>
          </a:p>
          <a:p>
            <a:pPr marL="0" indent="0">
              <a:buNone/>
            </a:pPr>
            <a:r>
              <a:rPr lang="en-GB" sz="2000"/>
              <a:t>Know what it is and how </a:t>
            </a:r>
            <a:r>
              <a:rPr lang="en-GB" sz="2000" err="1"/>
              <a:t>Xavor</a:t>
            </a:r>
            <a:r>
              <a:rPr lang="en-GB" sz="2000"/>
              <a:t> can help you fix it →</a:t>
            </a:r>
          </a:p>
          <a:p>
            <a:pPr marL="0" indent="0">
              <a:buNone/>
            </a:pPr>
            <a:endParaRPr lang="en-GB" sz="2000" b="1"/>
          </a:p>
          <a:p>
            <a:pPr marL="0" indent="0">
              <a:buNone/>
            </a:pPr>
            <a:r>
              <a:rPr lang="en-GB" sz="2000" b="1"/>
              <a:t>Slide 2: </a:t>
            </a:r>
            <a:endParaRPr lang="en-GB" sz="2000"/>
          </a:p>
          <a:p>
            <a:pPr marL="0" indent="0">
              <a:buNone/>
            </a:pPr>
            <a:r>
              <a:rPr lang="en-GB" sz="2000" b="1"/>
              <a:t>The agentic hotchpotch</a:t>
            </a:r>
          </a:p>
          <a:p>
            <a:pPr marL="342900" indent="-342900"/>
            <a:r>
              <a:rPr lang="en-GB" sz="2000"/>
              <a:t>Dev team adding debugging bots</a:t>
            </a:r>
          </a:p>
          <a:p>
            <a:pPr marL="342900" indent="-342900"/>
            <a:r>
              <a:rPr lang="en-GB" sz="2000"/>
              <a:t>Designers creating personal agents</a:t>
            </a:r>
          </a:p>
          <a:p>
            <a:pPr marL="342900" indent="-342900"/>
            <a:r>
              <a:rPr lang="en-GB" sz="2000"/>
              <a:t>Management using their own assistants</a:t>
            </a:r>
          </a:p>
          <a:p>
            <a:pPr marL="0" indent="0">
              <a:buNone/>
            </a:pPr>
            <a:r>
              <a:rPr lang="en-GB" sz="2000"/>
              <a:t>AI sprawls happens when there is no one watching all the disconnected agents.</a:t>
            </a:r>
          </a:p>
          <a:p>
            <a:pPr marL="0" indent="0">
              <a:buNone/>
            </a:pPr>
            <a:endParaRPr lang="en-GB" sz="2000"/>
          </a:p>
        </p:txBody>
      </p:sp>
      <p:sp>
        <p:nvSpPr>
          <p:cNvPr id="5" name="Content Placeholder 2">
            <a:extLst>
              <a:ext uri="{FF2B5EF4-FFF2-40B4-BE49-F238E27FC236}">
                <a16:creationId xmlns:a16="http://schemas.microsoft.com/office/drawing/2014/main" id="{55467352-6F31-92DA-1FAC-2BF967F7B0DC}"/>
              </a:ext>
            </a:extLst>
          </p:cNvPr>
          <p:cNvSpPr txBox="1">
            <a:spLocks/>
          </p:cNvSpPr>
          <p:nvPr/>
        </p:nvSpPr>
        <p:spPr>
          <a:xfrm>
            <a:off x="6741543" y="1029120"/>
            <a:ext cx="4865299" cy="4451979"/>
          </a:xfrm>
          <a:prstGeom prst="rect">
            <a:avLst/>
          </a:prstGeom>
        </p:spPr>
        <p:txBody>
          <a:bodyPr vert="horz" lIns="91440" tIns="45720" rIns="91440" bIns="45720" rtlCol="0" anchor="t">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000" b="1"/>
              <a:t>Slide 3: </a:t>
            </a:r>
            <a:endParaRPr lang="en-US" b="1"/>
          </a:p>
          <a:p>
            <a:pPr marL="0" indent="0">
              <a:buNone/>
            </a:pPr>
            <a:r>
              <a:rPr lang="en-GB" sz="2000" b="1"/>
              <a:t>Next thing you know you're left with a motley of agents</a:t>
            </a:r>
            <a:endParaRPr lang="en-US" b="1"/>
          </a:p>
          <a:p>
            <a:pPr marL="0" indent="0">
              <a:buNone/>
            </a:pPr>
            <a:r>
              <a:rPr lang="en-GB" sz="2000"/>
              <a:t>Built</a:t>
            </a:r>
            <a:r>
              <a:rPr lang="en-GB" sz="2000">
                <a:ea typeface="+mn-lt"/>
                <a:cs typeface="+mn-lt"/>
              </a:rPr>
              <a:t> by different teams with no shared structure or coordination.</a:t>
            </a:r>
            <a:endParaRPr lang="en-GB"/>
          </a:p>
          <a:p>
            <a:pPr marL="0" indent="0">
              <a:buNone/>
            </a:pPr>
            <a:endParaRPr lang="en-GB" sz="2000" b="1"/>
          </a:p>
          <a:p>
            <a:pPr marL="0" indent="0">
              <a:buNone/>
            </a:pPr>
            <a:r>
              <a:rPr lang="en-GB" sz="2000" b="1"/>
              <a:t>Slide 4: </a:t>
            </a:r>
            <a:endParaRPr lang="en-GB" sz="2000"/>
          </a:p>
          <a:p>
            <a:pPr marL="0" indent="0">
              <a:buNone/>
            </a:pPr>
            <a:r>
              <a:rPr lang="en-GB" sz="2000"/>
              <a:t>We provide central AI governance, so you never lose sight of your agentic setup.</a:t>
            </a:r>
          </a:p>
          <a:p>
            <a:pPr marL="342900" indent="-342900"/>
            <a:r>
              <a:rPr lang="en-GB" sz="2000" b="1"/>
              <a:t>Access control </a:t>
            </a:r>
            <a:r>
              <a:rPr lang="en-GB" sz="2000"/>
              <a:t>to make sure agents do what they're told to do</a:t>
            </a:r>
          </a:p>
          <a:p>
            <a:pPr marL="342900" indent="-342900"/>
            <a:r>
              <a:rPr lang="en-GB" sz="2000" b="1"/>
              <a:t>Humans-in-the-loop </a:t>
            </a:r>
            <a:r>
              <a:rPr lang="en-GB" sz="2000"/>
              <a:t>keep an eye on each</a:t>
            </a:r>
            <a:r>
              <a:rPr lang="en-GB" sz="2000" b="1"/>
              <a:t> </a:t>
            </a:r>
            <a:r>
              <a:rPr lang="en-GB" sz="2000"/>
              <a:t>agent's every move</a:t>
            </a:r>
            <a:endParaRPr lang="en-GB" b="1"/>
          </a:p>
          <a:p>
            <a:pPr marL="342900" indent="-342900"/>
            <a:r>
              <a:rPr lang="en-GB" sz="2000" b="1"/>
              <a:t>Audit trails </a:t>
            </a:r>
            <a:r>
              <a:rPr lang="en-GB" sz="2000"/>
              <a:t>help back track every decision to provide accountability </a:t>
            </a:r>
          </a:p>
          <a:p>
            <a:pPr marL="0" indent="0">
              <a:buNone/>
            </a:pPr>
            <a:r>
              <a:rPr lang="en-GB" sz="2000"/>
              <a:t>The result is a connected agentic enterprise where governance is prioritized from day one.</a:t>
            </a:r>
          </a:p>
          <a:p>
            <a:pPr marL="0" indent="0">
              <a:buNone/>
            </a:pPr>
            <a:endParaRPr lang="en-GB" sz="2000"/>
          </a:p>
        </p:txBody>
      </p:sp>
      <p:sp>
        <p:nvSpPr>
          <p:cNvPr id="6" name="Content Placeholder 2">
            <a:extLst>
              <a:ext uri="{FF2B5EF4-FFF2-40B4-BE49-F238E27FC236}">
                <a16:creationId xmlns:a16="http://schemas.microsoft.com/office/drawing/2014/main" id="{AD3E53EC-D725-2055-B667-3D0E081FA13C}"/>
              </a:ext>
            </a:extLst>
          </p:cNvPr>
          <p:cNvSpPr txBox="1">
            <a:spLocks/>
          </p:cNvSpPr>
          <p:nvPr/>
        </p:nvSpPr>
        <p:spPr>
          <a:xfrm>
            <a:off x="4527428" y="5500479"/>
            <a:ext cx="4865299" cy="1360848"/>
          </a:xfrm>
          <a:prstGeom prst="rect">
            <a:avLst/>
          </a:prstGeom>
        </p:spPr>
        <p:txBody>
          <a:bodyPr vert="horz" lIns="91440" tIns="45720" rIns="91440" bIns="45720" rtlCol="0" anchor="t">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000" b="1"/>
              <a:t>Slide 5: </a:t>
            </a:r>
            <a:endParaRPr lang="en-US" b="1"/>
          </a:p>
          <a:p>
            <a:pPr marL="0" indent="0">
              <a:buNone/>
            </a:pPr>
            <a:r>
              <a:rPr lang="en-GB" sz="2000" b="1">
                <a:ea typeface="+mn-lt"/>
                <a:cs typeface="+mn-lt"/>
              </a:rPr>
              <a:t>Govern agents before they scale now </a:t>
            </a:r>
            <a:endParaRPr lang="en-US" b="1">
              <a:ea typeface="+mn-lt"/>
              <a:cs typeface="+mn-lt"/>
            </a:endParaRPr>
          </a:p>
          <a:p>
            <a:pPr marL="0" indent="0">
              <a:buNone/>
            </a:pPr>
            <a:r>
              <a:rPr lang="en-GB" sz="2000" err="1">
                <a:ea typeface="+mn-lt"/>
                <a:cs typeface="+mn-lt"/>
              </a:rPr>
              <a:t>Xavor</a:t>
            </a:r>
            <a:r>
              <a:rPr lang="en-GB" sz="2000">
                <a:ea typeface="+mn-lt"/>
                <a:cs typeface="+mn-lt"/>
              </a:rPr>
              <a:t> assesses your agent governance readiness.</a:t>
            </a:r>
            <a:endParaRPr lang="en-US"/>
          </a:p>
          <a:p>
            <a:pPr marL="0" indent="0">
              <a:buNone/>
            </a:pPr>
            <a:r>
              <a:rPr lang="en-GB" sz="2000"/>
              <a:t>Book a Discovery Call (CTA)</a:t>
            </a:r>
          </a:p>
          <a:p>
            <a:pPr marL="0" indent="0">
              <a:buNone/>
            </a:pPr>
            <a:endParaRPr lang="en-GB" sz="2000" b="1"/>
          </a:p>
          <a:p>
            <a:pPr marL="0" indent="0">
              <a:buNone/>
            </a:pPr>
            <a:endParaRPr lang="en-GB" sz="2000" b="1"/>
          </a:p>
          <a:p>
            <a:pPr marL="0" indent="0">
              <a:buNone/>
            </a:pPr>
            <a:endParaRPr lang="en-GB" sz="2000"/>
          </a:p>
        </p:txBody>
      </p:sp>
    </p:spTree>
    <p:extLst>
      <p:ext uri="{BB962C8B-B14F-4D97-AF65-F5344CB8AC3E}">
        <p14:creationId xmlns:p14="http://schemas.microsoft.com/office/powerpoint/2010/main" val="2065153943"/>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540D4-5062-9481-B29E-7DF4FBC36CF8}"/>
              </a:ext>
            </a:extLst>
          </p:cNvPr>
          <p:cNvSpPr>
            <a:spLocks noGrp="1"/>
          </p:cNvSpPr>
          <p:nvPr>
            <p:ph type="title"/>
          </p:nvPr>
        </p:nvSpPr>
        <p:spPr>
          <a:xfrm>
            <a:off x="250316" y="184030"/>
            <a:ext cx="11336575" cy="906189"/>
          </a:xfrm>
        </p:spPr>
        <p:txBody>
          <a:bodyPr vert="horz" lIns="91440" tIns="45720" rIns="91440" bIns="45720" rtlCol="0" anchor="t">
            <a:normAutofit/>
          </a:bodyPr>
          <a:lstStyle/>
          <a:p>
            <a:r>
              <a:rPr lang="en-US" b="1" kern="1200">
                <a:latin typeface="+mj-lt"/>
                <a:ea typeface="+mj-ea"/>
                <a:cs typeface="+mj-cs"/>
              </a:rPr>
              <a:t>Carousel –</a:t>
            </a:r>
            <a:r>
              <a:rPr lang="en-US" b="1"/>
              <a:t> Friday 15 May </a:t>
            </a:r>
            <a:r>
              <a:rPr lang="en-US" b="1">
                <a:highlight>
                  <a:srgbClr val="008000"/>
                </a:highlight>
              </a:rPr>
              <a:t>(Posted)</a:t>
            </a:r>
            <a:endParaRPr lang="en-US" b="1" kern="1200">
              <a:latin typeface="+mj-lt"/>
            </a:endParaRPr>
          </a:p>
        </p:txBody>
      </p:sp>
      <p:sp>
        <p:nvSpPr>
          <p:cNvPr id="17" name="Content Placeholder 2">
            <a:extLst>
              <a:ext uri="{FF2B5EF4-FFF2-40B4-BE49-F238E27FC236}">
                <a16:creationId xmlns:a16="http://schemas.microsoft.com/office/drawing/2014/main" id="{894D9403-DE08-FA95-EBA7-C04235CFC786}"/>
              </a:ext>
            </a:extLst>
          </p:cNvPr>
          <p:cNvSpPr>
            <a:spLocks noGrp="1"/>
          </p:cNvSpPr>
          <p:nvPr>
            <p:ph idx="1"/>
          </p:nvPr>
        </p:nvSpPr>
        <p:spPr>
          <a:xfrm>
            <a:off x="395528" y="1088798"/>
            <a:ext cx="5810573" cy="5261082"/>
          </a:xfrm>
        </p:spPr>
        <p:txBody>
          <a:bodyPr vert="horz" lIns="91440" tIns="45720" rIns="91440" bIns="45720" rtlCol="0" anchor="t">
            <a:normAutofit/>
          </a:bodyPr>
          <a:lstStyle/>
          <a:p>
            <a:pPr>
              <a:lnSpc>
                <a:spcPct val="110000"/>
              </a:lnSpc>
              <a:buNone/>
            </a:pPr>
            <a:r>
              <a:rPr lang="en-US" sz="1400" b="1"/>
              <a:t>Slide 1: Why Aras and Propel Need Agent Governance Before AI Scales</a:t>
            </a:r>
          </a:p>
          <a:p>
            <a:pPr marL="0">
              <a:lnSpc>
                <a:spcPct val="110000"/>
              </a:lnSpc>
              <a:buNone/>
            </a:pPr>
            <a:r>
              <a:rPr lang="en-US" sz="1400"/>
              <a:t>AI agents are integrated  with your most critical PLM data. Without robust governance, this  could be a significant liability.</a:t>
            </a:r>
          </a:p>
          <a:p>
            <a:pPr marL="0">
              <a:lnSpc>
                <a:spcPct val="110000"/>
              </a:lnSpc>
              <a:buNone/>
            </a:pPr>
            <a:endParaRPr lang="en-US" sz="1400"/>
          </a:p>
          <a:p>
            <a:pPr>
              <a:lnSpc>
                <a:spcPct val="110000"/>
              </a:lnSpc>
              <a:buNone/>
            </a:pPr>
            <a:r>
              <a:rPr lang="en-US" sz="1400" b="1"/>
              <a:t>Slide 2: The Cost of Ungoverned AI in PLM</a:t>
            </a:r>
          </a:p>
          <a:p>
            <a:pPr>
              <a:lnSpc>
                <a:spcPct val="110000"/>
              </a:lnSpc>
            </a:pPr>
            <a:r>
              <a:rPr lang="en-US" sz="1400" b="1"/>
              <a:t>Workflow Bypass:</a:t>
            </a:r>
            <a:r>
              <a:rPr lang="en-US" sz="1400"/>
              <a:t> Agents circumventing established PLM processes.</a:t>
            </a:r>
          </a:p>
          <a:p>
            <a:pPr>
              <a:lnSpc>
                <a:spcPct val="110000"/>
              </a:lnSpc>
            </a:pPr>
            <a:r>
              <a:rPr lang="en-US" sz="1400" b="1"/>
              <a:t>Data Corruption:</a:t>
            </a:r>
            <a:r>
              <a:rPr lang="en-US" sz="1400"/>
              <a:t> Compromised product records or BOMs.</a:t>
            </a:r>
          </a:p>
          <a:p>
            <a:pPr>
              <a:lnSpc>
                <a:spcPct val="110000"/>
              </a:lnSpc>
            </a:pPr>
            <a:r>
              <a:rPr lang="en-US" sz="1400" b="1"/>
              <a:t>Compliance Gaps: </a:t>
            </a:r>
            <a:r>
              <a:rPr lang="en-US" sz="1400"/>
              <a:t>Failure to meet regulatory standards in engineering changes.</a:t>
            </a:r>
          </a:p>
          <a:p>
            <a:pPr>
              <a:lnSpc>
                <a:spcPct val="110000"/>
              </a:lnSpc>
            </a:pPr>
            <a:r>
              <a:rPr lang="en-US" sz="1400" b="1"/>
              <a:t>Traceability Loss: </a:t>
            </a:r>
            <a:r>
              <a:rPr lang="en-US" sz="1400"/>
              <a:t>Inability to audit agent actions on critical documentation.</a:t>
            </a:r>
          </a:p>
          <a:p>
            <a:pPr marL="0">
              <a:lnSpc>
                <a:spcPct val="110000"/>
              </a:lnSpc>
              <a:buNone/>
            </a:pPr>
            <a:endParaRPr lang="en-US" sz="1400"/>
          </a:p>
          <a:p>
            <a:pPr>
              <a:lnSpc>
                <a:spcPct val="110000"/>
              </a:lnSpc>
              <a:buNone/>
            </a:pPr>
            <a:r>
              <a:rPr lang="en-US" sz="1400" b="1"/>
              <a:t>Slide 3: Mitigating Risk: A Framework for Control</a:t>
            </a:r>
          </a:p>
          <a:p>
            <a:pPr marL="0">
              <a:lnSpc>
                <a:spcPct val="110000"/>
              </a:lnSpc>
              <a:buNone/>
            </a:pPr>
            <a:r>
              <a:rPr lang="en-US" sz="1400"/>
              <a:t>These risks demand a structured response. Effective governance transforms potential liabilities into strategic advantages. </a:t>
            </a:r>
          </a:p>
          <a:p>
            <a:pPr marL="0">
              <a:lnSpc>
                <a:spcPct val="110000"/>
              </a:lnSpc>
              <a:buNone/>
            </a:pPr>
            <a:r>
              <a:rPr lang="en-US" sz="1400"/>
              <a:t>However, this requires a comprehensive framework.</a:t>
            </a:r>
          </a:p>
          <a:p>
            <a:pPr>
              <a:lnSpc>
                <a:spcPct val="110000"/>
              </a:lnSpc>
              <a:buNone/>
            </a:pPr>
            <a:endParaRPr lang="en-US" sz="1300" b="1"/>
          </a:p>
          <a:p>
            <a:pPr>
              <a:lnSpc>
                <a:spcPct val="110000"/>
              </a:lnSpc>
              <a:buNone/>
            </a:pPr>
            <a:endParaRPr lang="en-US" sz="1300" b="1"/>
          </a:p>
          <a:p>
            <a:pPr marL="0">
              <a:lnSpc>
                <a:spcPct val="110000"/>
              </a:lnSpc>
              <a:buNone/>
            </a:pPr>
            <a:endParaRPr lang="en-US" sz="1300" b="1"/>
          </a:p>
        </p:txBody>
      </p:sp>
      <p:sp>
        <p:nvSpPr>
          <p:cNvPr id="10" name="Date Placeholder 4">
            <a:extLst>
              <a:ext uri="{FF2B5EF4-FFF2-40B4-BE49-F238E27FC236}">
                <a16:creationId xmlns:a16="http://schemas.microsoft.com/office/drawing/2014/main" id="{E38E7B44-50E9-66EE-D9D9-E8A66D005508}"/>
              </a:ext>
            </a:extLst>
          </p:cNvPr>
          <p:cNvSpPr>
            <a:spLocks noGrp="1"/>
          </p:cNvSpPr>
          <p:nvPr>
            <p:ph type="dt" sz="half" idx="10"/>
          </p:nvPr>
        </p:nvSpPr>
        <p:spPr/>
        <p:txBody>
          <a:bodyPr/>
          <a:lstStyle/>
          <a:p>
            <a:pPr>
              <a:spcAft>
                <a:spcPts val="600"/>
              </a:spcAft>
            </a:pPr>
            <a:fld id="{2E522389-0217-4DB3-8277-E41CEA38401C}" type="datetime1">
              <a:rPr lang="en-US" smtClean="0"/>
              <a:pPr>
                <a:spcAft>
                  <a:spcPts val="600"/>
                </a:spcAft>
              </a:pPr>
              <a:t>7/7/2026</a:t>
            </a:fld>
            <a:endParaRPr lang="en-US"/>
          </a:p>
        </p:txBody>
      </p:sp>
      <p:sp>
        <p:nvSpPr>
          <p:cNvPr id="12" name="Footer Placeholder 5">
            <a:extLst>
              <a:ext uri="{FF2B5EF4-FFF2-40B4-BE49-F238E27FC236}">
                <a16:creationId xmlns:a16="http://schemas.microsoft.com/office/drawing/2014/main" id="{F9D17373-EDF4-683F-B923-BA021E8C2B13}"/>
              </a:ext>
            </a:extLst>
          </p:cNvPr>
          <p:cNvSpPr>
            <a:spLocks noGrp="1"/>
          </p:cNvSpPr>
          <p:nvPr>
            <p:ph type="ftr" sz="quarter" idx="11"/>
          </p:nvPr>
        </p:nvSpPr>
        <p:spPr/>
        <p:txBody>
          <a:bodyPr/>
          <a:lstStyle/>
          <a:p>
            <a:pPr>
              <a:spcAft>
                <a:spcPts val="600"/>
              </a:spcAft>
            </a:pPr>
            <a:r>
              <a:rPr lang="en-US"/>
              <a:t>
              </a:t>
            </a:r>
          </a:p>
        </p:txBody>
      </p:sp>
      <p:sp>
        <p:nvSpPr>
          <p:cNvPr id="14" name="Slide Number Placeholder 6">
            <a:extLst>
              <a:ext uri="{FF2B5EF4-FFF2-40B4-BE49-F238E27FC236}">
                <a16:creationId xmlns:a16="http://schemas.microsoft.com/office/drawing/2014/main" id="{A71FAB0D-9CD2-91AE-83D8-FA3364C18DD3}"/>
              </a:ext>
            </a:extLst>
          </p:cNvPr>
          <p:cNvSpPr>
            <a:spLocks noGrp="1"/>
          </p:cNvSpPr>
          <p:nvPr>
            <p:ph type="sldNum" sz="quarter" idx="12"/>
          </p:nvPr>
        </p:nvSpPr>
        <p:spPr/>
        <p:txBody>
          <a:bodyPr/>
          <a:lstStyle/>
          <a:p>
            <a:pPr>
              <a:spcAft>
                <a:spcPts val="600"/>
              </a:spcAft>
            </a:pPr>
            <a:fld id="{6E91CC32-6A6B-4E2E-BBA1-6864F305DA26}" type="slidenum">
              <a:rPr lang="en-US" smtClean="0"/>
              <a:pPr>
                <a:spcAft>
                  <a:spcPts val="600"/>
                </a:spcAft>
              </a:pPr>
              <a:t>4</a:t>
            </a:fld>
            <a:endParaRPr lang="en-US"/>
          </a:p>
        </p:txBody>
      </p:sp>
      <p:sp>
        <p:nvSpPr>
          <p:cNvPr id="5" name="Content Placeholder 2">
            <a:extLst>
              <a:ext uri="{FF2B5EF4-FFF2-40B4-BE49-F238E27FC236}">
                <a16:creationId xmlns:a16="http://schemas.microsoft.com/office/drawing/2014/main" id="{7277FDBD-691E-036F-9FB6-B3E7BD1AA1CA}"/>
              </a:ext>
            </a:extLst>
          </p:cNvPr>
          <p:cNvSpPr txBox="1">
            <a:spLocks/>
          </p:cNvSpPr>
          <p:nvPr/>
        </p:nvSpPr>
        <p:spPr>
          <a:xfrm>
            <a:off x="6736256" y="1084675"/>
            <a:ext cx="4863458" cy="4866161"/>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sz="1400" b="1" kern="1200">
                <a:highlight>
                  <a:srgbClr val="FFFFFF"/>
                </a:highlight>
                <a:latin typeface="+mn-lt"/>
                <a:ea typeface="+mn-ea"/>
                <a:cs typeface="+mn-cs"/>
              </a:rPr>
              <a:t>Slide 4: The 5 A's of Governance </a:t>
            </a:r>
            <a:endParaRPr lang="en-US" sz="1400" b="1" kern="1200">
              <a:latin typeface="+mn-lt"/>
            </a:endParaRPr>
          </a:p>
          <a:p>
            <a:pPr marL="0" indent="0">
              <a:lnSpc>
                <a:spcPct val="110000"/>
              </a:lnSpc>
              <a:buNone/>
            </a:pPr>
            <a:r>
              <a:rPr lang="en-US" sz="1400" b="1" kern="1200">
                <a:highlight>
                  <a:srgbClr val="FFFFFF"/>
                </a:highlight>
                <a:latin typeface="+mn-lt"/>
                <a:ea typeface="+mn-ea"/>
                <a:cs typeface="+mn-cs"/>
              </a:rPr>
              <a:t>Awareness: </a:t>
            </a:r>
            <a:r>
              <a:rPr lang="en-US" sz="1400" kern="1200">
                <a:highlight>
                  <a:srgbClr val="FFFFFF"/>
                </a:highlight>
                <a:latin typeface="+mn-lt"/>
                <a:ea typeface="+mn-ea"/>
                <a:cs typeface="+mn-cs"/>
              </a:rPr>
              <a:t>Knowing the capabilities and limitations of the agentic system. </a:t>
            </a:r>
            <a:endParaRPr lang="en-US" sz="1400" kern="1200">
              <a:latin typeface="+mn-lt"/>
            </a:endParaRPr>
          </a:p>
          <a:p>
            <a:pPr marL="0" indent="0">
              <a:lnSpc>
                <a:spcPct val="110000"/>
              </a:lnSpc>
              <a:buNone/>
            </a:pPr>
            <a:r>
              <a:rPr lang="en-US" sz="1400" b="1" kern="1200">
                <a:highlight>
                  <a:srgbClr val="FFFFFF"/>
                </a:highlight>
                <a:latin typeface="+mn-lt"/>
                <a:ea typeface="+mn-ea"/>
                <a:cs typeface="+mn-cs"/>
              </a:rPr>
              <a:t>Architecture</a:t>
            </a:r>
            <a:r>
              <a:rPr lang="en-US" sz="1400" kern="1200">
                <a:highlight>
                  <a:srgbClr val="FFFFFF"/>
                </a:highlight>
                <a:latin typeface="+mn-lt"/>
                <a:ea typeface="+mn-ea"/>
                <a:cs typeface="+mn-cs"/>
              </a:rPr>
              <a:t>: Designing for orchestration and security.</a:t>
            </a:r>
            <a:endParaRPr lang="en-US" sz="1400" kern="1200">
              <a:latin typeface="+mn-lt"/>
            </a:endParaRPr>
          </a:p>
          <a:p>
            <a:pPr marL="0" indent="0">
              <a:lnSpc>
                <a:spcPct val="110000"/>
              </a:lnSpc>
              <a:buNone/>
            </a:pPr>
            <a:r>
              <a:rPr lang="en-US" sz="1400" b="1" kern="1200">
                <a:highlight>
                  <a:srgbClr val="FFFFFF"/>
                </a:highlight>
                <a:latin typeface="+mn-lt"/>
                <a:ea typeface="+mn-ea"/>
                <a:cs typeface="+mn-cs"/>
              </a:rPr>
              <a:t>Alignment</a:t>
            </a:r>
            <a:r>
              <a:rPr lang="en-US" sz="1400" kern="1200">
                <a:highlight>
                  <a:srgbClr val="FFFFFF"/>
                </a:highlight>
                <a:latin typeface="+mn-lt"/>
                <a:ea typeface="+mn-ea"/>
                <a:cs typeface="+mn-cs"/>
              </a:rPr>
              <a:t>: Ensuring consistent performance over time.</a:t>
            </a:r>
            <a:endParaRPr lang="en-US" sz="1400" kern="1200">
              <a:latin typeface="+mn-lt"/>
            </a:endParaRPr>
          </a:p>
          <a:p>
            <a:pPr marL="0" indent="0">
              <a:lnSpc>
                <a:spcPct val="110000"/>
              </a:lnSpc>
              <a:buNone/>
            </a:pPr>
            <a:r>
              <a:rPr lang="en-US" sz="1400" b="1" kern="1200">
                <a:highlight>
                  <a:srgbClr val="FFFFFF"/>
                </a:highlight>
                <a:latin typeface="+mn-lt"/>
                <a:ea typeface="+mn-ea"/>
                <a:cs typeface="+mn-cs"/>
              </a:rPr>
              <a:t>Accountability</a:t>
            </a:r>
            <a:r>
              <a:rPr lang="en-US" sz="1400" kern="1200">
                <a:highlight>
                  <a:srgbClr val="FFFFFF"/>
                </a:highlight>
                <a:latin typeface="+mn-lt"/>
                <a:ea typeface="+mn-ea"/>
                <a:cs typeface="+mn-cs"/>
              </a:rPr>
              <a:t>: Establishing clear human ownership.</a:t>
            </a:r>
            <a:endParaRPr lang="en-US" sz="1400" kern="1200">
              <a:latin typeface="+mn-lt"/>
            </a:endParaRPr>
          </a:p>
          <a:p>
            <a:pPr marL="0" indent="0">
              <a:lnSpc>
                <a:spcPct val="110000"/>
              </a:lnSpc>
              <a:buNone/>
            </a:pPr>
            <a:r>
              <a:rPr lang="en-US" sz="1400" b="1" kern="1200">
                <a:highlight>
                  <a:srgbClr val="FFFFFF"/>
                </a:highlight>
                <a:latin typeface="+mn-lt"/>
                <a:ea typeface="+mn-ea"/>
                <a:cs typeface="+mn-cs"/>
              </a:rPr>
              <a:t>Adaptation</a:t>
            </a:r>
            <a:r>
              <a:rPr lang="en-US" sz="1400" kern="1200">
                <a:highlight>
                  <a:srgbClr val="FFFFFF"/>
                </a:highlight>
                <a:latin typeface="+mn-lt"/>
                <a:ea typeface="+mn-ea"/>
                <a:cs typeface="+mn-cs"/>
              </a:rPr>
              <a:t>: Continuously adjusting to new risks. </a:t>
            </a:r>
            <a:endParaRPr lang="en-US" sz="1400" kern="1200">
              <a:latin typeface="+mn-lt"/>
            </a:endParaRPr>
          </a:p>
          <a:p>
            <a:pPr marL="0" indent="0">
              <a:lnSpc>
                <a:spcPct val="110000"/>
              </a:lnSpc>
              <a:buNone/>
            </a:pPr>
            <a:r>
              <a:rPr lang="en-US" sz="1400" kern="1200">
                <a:highlight>
                  <a:srgbClr val="FFFFFF"/>
                </a:highlight>
                <a:latin typeface="+mn-lt"/>
                <a:ea typeface="+mn-ea"/>
                <a:cs typeface="+mn-cs"/>
              </a:rPr>
              <a:t>Get the 5 A's right, and your AI is ready to scale</a:t>
            </a:r>
            <a:endParaRPr lang="en-US" sz="1400" kern="1200">
              <a:highlight>
                <a:srgbClr val="FFFFFF"/>
              </a:highlight>
              <a:latin typeface="+mn-lt"/>
            </a:endParaRPr>
          </a:p>
          <a:p>
            <a:pPr marL="0" indent="0">
              <a:lnSpc>
                <a:spcPct val="110000"/>
              </a:lnSpc>
              <a:buNone/>
            </a:pPr>
            <a:br>
              <a:rPr lang="en-US" sz="1400" b="1" kern="1200">
                <a:highlight>
                  <a:srgbClr val="FFFFFF"/>
                </a:highlight>
              </a:rPr>
            </a:br>
            <a:r>
              <a:rPr lang="en-US" sz="1400" b="1" kern="1200">
                <a:highlight>
                  <a:srgbClr val="FFFFFF"/>
                </a:highlight>
                <a:latin typeface="+mn-lt"/>
                <a:ea typeface="+mn-ea"/>
                <a:cs typeface="+mn-cs"/>
              </a:rPr>
              <a:t>CTA Slide: </a:t>
            </a:r>
            <a:br>
              <a:rPr lang="en-US" sz="1400" b="1" i="1" kern="1200">
                <a:highlight>
                  <a:srgbClr val="FFFFFF"/>
                </a:highlight>
              </a:rPr>
            </a:br>
            <a:r>
              <a:rPr lang="en-US" sz="1400" kern="1200">
                <a:highlight>
                  <a:srgbClr val="FFFFFF"/>
                </a:highlight>
                <a:latin typeface="+mn-lt"/>
                <a:ea typeface="+mn-ea"/>
                <a:cs typeface="+mn-cs"/>
              </a:rPr>
              <a:t>Don't wait for a compliance breach to fix your process. </a:t>
            </a:r>
            <a:br>
              <a:rPr lang="en-US" sz="1400" kern="1200">
                <a:highlight>
                  <a:srgbClr val="FFFFFF"/>
                </a:highlight>
              </a:rPr>
            </a:br>
            <a:r>
              <a:rPr lang="en-US" sz="1400" b="1" kern="1200">
                <a:highlight>
                  <a:srgbClr val="FFFFFF"/>
                </a:highlight>
                <a:latin typeface="+mn-lt"/>
                <a:ea typeface="+mn-ea"/>
                <a:cs typeface="+mn-cs"/>
              </a:rPr>
              <a:t>Build your PLM agent governance blueprint </a:t>
            </a:r>
            <a:r>
              <a:rPr lang="en-US" sz="1400" b="1" i="1" kern="1200">
                <a:highlight>
                  <a:srgbClr val="FFFFFF"/>
                </a:highlight>
                <a:latin typeface="+mn-lt"/>
                <a:ea typeface="+mn-ea"/>
                <a:cs typeface="+mn-cs"/>
              </a:rPr>
              <a:t>now</a:t>
            </a:r>
            <a:endParaRPr lang="en-US" sz="1400" kern="1200">
              <a:highlight>
                <a:srgbClr val="FFFFFF"/>
              </a:highlight>
              <a:latin typeface="+mn-lt"/>
            </a:endParaRPr>
          </a:p>
          <a:p>
            <a:pPr marL="0" indent="0">
              <a:lnSpc>
                <a:spcPct val="110000"/>
              </a:lnSpc>
              <a:buNone/>
            </a:pPr>
            <a:endParaRPr lang="en-US" sz="1400" b="1" i="1" kern="1200">
              <a:highlight>
                <a:srgbClr val="FFFFFF"/>
              </a:highlight>
              <a:latin typeface="+mn-lt"/>
            </a:endParaRPr>
          </a:p>
          <a:p>
            <a:pPr marL="0" indent="0">
              <a:lnSpc>
                <a:spcPct val="110000"/>
              </a:lnSpc>
              <a:buNone/>
            </a:pPr>
            <a:endParaRPr lang="en-US" sz="1400" kern="1200">
              <a:highlight>
                <a:srgbClr val="FFFFFF"/>
              </a:highlight>
              <a:latin typeface="+mn-lt"/>
            </a:endParaRPr>
          </a:p>
        </p:txBody>
      </p:sp>
    </p:spTree>
    <p:extLst>
      <p:ext uri="{BB962C8B-B14F-4D97-AF65-F5344CB8AC3E}">
        <p14:creationId xmlns:p14="http://schemas.microsoft.com/office/powerpoint/2010/main" val="3333263150"/>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890E96-3731-5903-B11F-1B2B0E62A1DA}"/>
              </a:ext>
            </a:extLst>
          </p:cNvPr>
          <p:cNvSpPr>
            <a:spLocks noGrp="1"/>
          </p:cNvSpPr>
          <p:nvPr>
            <p:ph idx="1"/>
          </p:nvPr>
        </p:nvSpPr>
        <p:spPr>
          <a:xfrm>
            <a:off x="119332" y="1035468"/>
            <a:ext cx="5331165" cy="5691844"/>
          </a:xfrm>
        </p:spPr>
        <p:txBody>
          <a:bodyPr vert="horz" lIns="91440" tIns="45720" rIns="91440" bIns="45720" rtlCol="0" anchor="t">
            <a:normAutofit fontScale="92500" lnSpcReduction="20000"/>
          </a:bodyPr>
          <a:lstStyle/>
          <a:p>
            <a:pPr>
              <a:buNone/>
            </a:pPr>
            <a:r>
              <a:rPr lang="en-GB" sz="1400" b="1">
                <a:ea typeface="+mn-lt"/>
                <a:cs typeface="+mn-lt"/>
              </a:rPr>
              <a:t>Slide 1</a:t>
            </a:r>
          </a:p>
          <a:p>
            <a:pPr>
              <a:buNone/>
            </a:pPr>
            <a:r>
              <a:rPr lang="en-GB" sz="1400" b="1">
                <a:ea typeface="+mn-lt"/>
                <a:cs typeface="+mn-lt"/>
              </a:rPr>
              <a:t>When platform agents are not enough</a:t>
            </a:r>
            <a:endParaRPr lang="en-US" sz="1400" b="1">
              <a:ea typeface="+mn-lt"/>
              <a:cs typeface="+mn-lt"/>
            </a:endParaRPr>
          </a:p>
          <a:p>
            <a:pPr>
              <a:buNone/>
            </a:pPr>
            <a:r>
              <a:rPr lang="en-GB" sz="1400">
                <a:ea typeface="+mn-lt"/>
                <a:cs typeface="+mn-lt"/>
              </a:rPr>
              <a:t>Platform agents are effective for routine actions, but enterprise complexity goes further.</a:t>
            </a:r>
            <a:endParaRPr lang="en-GB">
              <a:ea typeface="+mn-lt"/>
              <a:cs typeface="+mn-lt"/>
            </a:endParaRPr>
          </a:p>
          <a:p>
            <a:pPr>
              <a:buNone/>
            </a:pPr>
            <a:r>
              <a:rPr lang="en-GB" sz="1400" b="1">
                <a:ea typeface="+mn-lt"/>
                <a:cs typeface="+mn-lt"/>
              </a:rPr>
              <a:t>Slide 2</a:t>
            </a:r>
          </a:p>
          <a:p>
            <a:pPr>
              <a:buNone/>
            </a:pPr>
            <a:r>
              <a:rPr lang="en-GB" sz="1400" b="1">
                <a:ea typeface="+mn-lt"/>
                <a:cs typeface="+mn-lt"/>
              </a:rPr>
              <a:t>Platform agents work well in controlled environments</a:t>
            </a:r>
          </a:p>
          <a:p>
            <a:r>
              <a:rPr lang="en-GB" sz="1400" b="1">
                <a:ea typeface="+mn-lt"/>
                <a:cs typeface="+mn-lt"/>
              </a:rPr>
              <a:t>Simple requests:</a:t>
            </a:r>
            <a:r>
              <a:rPr lang="en-GB" sz="1400">
                <a:ea typeface="+mn-lt"/>
                <a:cs typeface="+mn-lt"/>
              </a:rPr>
              <a:t> Clear requests with direct instructions.</a:t>
            </a:r>
          </a:p>
          <a:p>
            <a:r>
              <a:rPr lang="en-GB" sz="1400" b="1">
                <a:ea typeface="+mn-lt"/>
                <a:cs typeface="+mn-lt"/>
              </a:rPr>
              <a:t>Standard approvals:</a:t>
            </a:r>
            <a:r>
              <a:rPr lang="en-GB" sz="1400">
                <a:ea typeface="+mn-lt"/>
                <a:cs typeface="+mn-lt"/>
              </a:rPr>
              <a:t> Routine approvals based on fixed rules.</a:t>
            </a:r>
          </a:p>
          <a:p>
            <a:r>
              <a:rPr lang="en-GB" sz="1400" b="1">
                <a:ea typeface="+mn-lt"/>
                <a:cs typeface="+mn-lt"/>
              </a:rPr>
              <a:t>Basic automation:</a:t>
            </a:r>
            <a:r>
              <a:rPr lang="en-GB" sz="1400">
                <a:ea typeface="+mn-lt"/>
                <a:cs typeface="+mn-lt"/>
              </a:rPr>
              <a:t> Repetitive automation with predefined steps.</a:t>
            </a:r>
          </a:p>
          <a:p>
            <a:r>
              <a:rPr lang="en-GB" sz="1400" b="1">
                <a:ea typeface="+mn-lt"/>
                <a:cs typeface="+mn-lt"/>
              </a:rPr>
              <a:t>Single-system actions:</a:t>
            </a:r>
            <a:r>
              <a:rPr lang="en-GB" sz="1400">
                <a:ea typeface="+mn-lt"/>
                <a:cs typeface="+mn-lt"/>
              </a:rPr>
              <a:t> Actions completed within a single system.</a:t>
            </a:r>
          </a:p>
          <a:p>
            <a:pPr>
              <a:buNone/>
            </a:pPr>
            <a:r>
              <a:rPr lang="en-GB" sz="1400">
                <a:ea typeface="+mn-lt"/>
                <a:cs typeface="+mn-lt"/>
              </a:rPr>
              <a:t>Enterprise complexity begins when workflows move beyond these boundaries.</a:t>
            </a:r>
            <a:endParaRPr lang="en-GB">
              <a:ea typeface="+mn-lt"/>
              <a:cs typeface="+mn-lt"/>
            </a:endParaRPr>
          </a:p>
          <a:p>
            <a:pPr>
              <a:buNone/>
            </a:pPr>
            <a:r>
              <a:rPr lang="en-GB" sz="1400" b="1"/>
              <a:t>Slide 3</a:t>
            </a:r>
            <a:endParaRPr lang="en-US" sz="1400"/>
          </a:p>
          <a:p>
            <a:pPr>
              <a:buNone/>
            </a:pPr>
            <a:r>
              <a:rPr lang="en-GB" sz="1400" b="1"/>
              <a:t>The real challenge is workflow orchestration</a:t>
            </a:r>
            <a:endParaRPr lang="en-US" sz="1400" b="1"/>
          </a:p>
          <a:p>
            <a:pPr>
              <a:buNone/>
            </a:pPr>
            <a:r>
              <a:rPr lang="en-GB" sz="1400"/>
              <a:t>Critical workflows usually span:</a:t>
            </a:r>
          </a:p>
          <a:p>
            <a:pPr>
              <a:buFont typeface="Arial"/>
              <a:buChar char="•"/>
            </a:pPr>
            <a:r>
              <a:rPr lang="en-GB" sz="1400"/>
              <a:t>Multiple systems</a:t>
            </a:r>
          </a:p>
          <a:p>
            <a:pPr>
              <a:buFont typeface="Arial"/>
              <a:buChar char="•"/>
            </a:pPr>
            <a:r>
              <a:rPr lang="en-GB" sz="1400"/>
              <a:t>Cross-functional teams</a:t>
            </a:r>
          </a:p>
          <a:p>
            <a:pPr>
              <a:buFont typeface="Arial"/>
              <a:buChar char="•"/>
            </a:pPr>
            <a:r>
              <a:rPr lang="en-GB" sz="1400"/>
              <a:t>Business rules</a:t>
            </a:r>
          </a:p>
          <a:p>
            <a:pPr>
              <a:buFont typeface="Arial"/>
              <a:buChar char="•"/>
            </a:pPr>
            <a:r>
              <a:rPr lang="en-GB" sz="1400"/>
              <a:t>Exceptions</a:t>
            </a:r>
          </a:p>
          <a:p>
            <a:pPr>
              <a:buFont typeface="Arial"/>
              <a:buChar char="•"/>
            </a:pPr>
            <a:r>
              <a:rPr lang="en-GB" sz="1400"/>
              <a:t>Manual decisions</a:t>
            </a:r>
          </a:p>
          <a:p>
            <a:pPr>
              <a:buNone/>
            </a:pPr>
            <a:r>
              <a:rPr lang="en-GB" sz="1400"/>
              <a:t>This is where generic agents lose context.</a:t>
            </a:r>
          </a:p>
          <a:p>
            <a:pPr>
              <a:buNone/>
            </a:pPr>
            <a:endParaRPr lang="en-GB" sz="1400"/>
          </a:p>
          <a:p>
            <a:pPr>
              <a:buNone/>
            </a:pPr>
            <a:endParaRPr lang="en-GB" sz="1400"/>
          </a:p>
          <a:p>
            <a:pPr>
              <a:buNone/>
            </a:pPr>
            <a:endParaRPr lang="en-GB" sz="1400"/>
          </a:p>
          <a:p>
            <a:pPr>
              <a:buNone/>
            </a:pPr>
            <a:endParaRPr lang="en-GB" sz="1400"/>
          </a:p>
          <a:p>
            <a:pPr>
              <a:buNone/>
            </a:pPr>
            <a:endParaRPr lang="en-GB" sz="1400"/>
          </a:p>
          <a:p>
            <a:pPr>
              <a:buNone/>
            </a:pPr>
            <a:endParaRPr lang="en-GB" sz="1400"/>
          </a:p>
          <a:p>
            <a:pPr marL="0" indent="0">
              <a:buNone/>
            </a:pPr>
            <a:endParaRPr lang="en-GB" sz="1400"/>
          </a:p>
        </p:txBody>
      </p:sp>
      <p:sp>
        <p:nvSpPr>
          <p:cNvPr id="8" name="Content Placeholder 2">
            <a:extLst>
              <a:ext uri="{FF2B5EF4-FFF2-40B4-BE49-F238E27FC236}">
                <a16:creationId xmlns:a16="http://schemas.microsoft.com/office/drawing/2014/main" id="{3608BC10-FFE7-C380-6B7B-D172E777C3A3}"/>
              </a:ext>
            </a:extLst>
          </p:cNvPr>
          <p:cNvSpPr txBox="1">
            <a:spLocks/>
          </p:cNvSpPr>
          <p:nvPr/>
        </p:nvSpPr>
        <p:spPr>
          <a:xfrm>
            <a:off x="6571410" y="1056275"/>
            <a:ext cx="5479332" cy="5805049"/>
          </a:xfrm>
          <a:prstGeom prst="rect">
            <a:avLst/>
          </a:prstGeom>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GB" sz="1400" b="1">
                <a:ea typeface="+mn-lt"/>
                <a:cs typeface="+mn-lt"/>
              </a:rPr>
              <a:t>Slide 4</a:t>
            </a:r>
          </a:p>
          <a:p>
            <a:pPr>
              <a:buNone/>
            </a:pPr>
            <a:r>
              <a:rPr lang="en-GB" sz="1400" b="1">
                <a:ea typeface="+mn-lt"/>
                <a:cs typeface="+mn-lt"/>
              </a:rPr>
              <a:t>AI without workflow strategy creates new bottlenecks</a:t>
            </a:r>
          </a:p>
          <a:p>
            <a:pPr>
              <a:buNone/>
            </a:pPr>
            <a:r>
              <a:rPr lang="en-GB" sz="1400">
                <a:ea typeface="+mn-lt"/>
                <a:cs typeface="+mn-lt"/>
              </a:rPr>
              <a:t>An agent may complete a task, but enterprise leaders care about:</a:t>
            </a:r>
          </a:p>
          <a:p>
            <a:r>
              <a:rPr lang="en-GB" sz="1400">
                <a:ea typeface="+mn-lt"/>
                <a:cs typeface="+mn-lt"/>
              </a:rPr>
              <a:t>ROI</a:t>
            </a:r>
          </a:p>
          <a:p>
            <a:r>
              <a:rPr lang="en-GB" sz="1400">
                <a:ea typeface="+mn-lt"/>
                <a:cs typeface="+mn-lt"/>
              </a:rPr>
              <a:t>Governance</a:t>
            </a:r>
          </a:p>
          <a:p>
            <a:r>
              <a:rPr lang="en-GB" sz="1400">
                <a:ea typeface="+mn-lt"/>
                <a:cs typeface="+mn-lt"/>
              </a:rPr>
              <a:t>Operational visibility</a:t>
            </a:r>
          </a:p>
          <a:p>
            <a:r>
              <a:rPr lang="en-GB" sz="1400">
                <a:ea typeface="+mn-lt"/>
                <a:cs typeface="+mn-lt"/>
              </a:rPr>
              <a:t>Process continuity </a:t>
            </a:r>
          </a:p>
          <a:p>
            <a:r>
              <a:rPr lang="en-GB" sz="1400">
                <a:ea typeface="+mn-lt"/>
                <a:cs typeface="+mn-lt"/>
              </a:rPr>
              <a:t>Scalability</a:t>
            </a:r>
          </a:p>
          <a:p>
            <a:pPr>
              <a:buNone/>
            </a:pPr>
            <a:r>
              <a:rPr lang="en-GB" sz="1400">
                <a:ea typeface="+mn-lt"/>
                <a:cs typeface="+mn-lt"/>
              </a:rPr>
              <a:t>That requires more than out-of-the-box automation.</a:t>
            </a:r>
          </a:p>
          <a:p>
            <a:pPr>
              <a:buNone/>
            </a:pPr>
            <a:endParaRPr lang="en-GB" sz="1400"/>
          </a:p>
          <a:p>
            <a:pPr>
              <a:buNone/>
            </a:pPr>
            <a:r>
              <a:rPr lang="en-GB" sz="1400" b="1"/>
              <a:t>Slide 5</a:t>
            </a:r>
            <a:endParaRPr lang="en-US" sz="1400" b="1"/>
          </a:p>
          <a:p>
            <a:pPr>
              <a:buNone/>
            </a:pPr>
            <a:r>
              <a:rPr lang="en-GB" sz="1400" b="1">
                <a:ea typeface="+mn-lt"/>
                <a:cs typeface="+mn-lt"/>
              </a:rPr>
              <a:t>Enterprise AI becomes powerful when workflows stay connected.</a:t>
            </a:r>
            <a:endParaRPr lang="en-GB" b="1">
              <a:ea typeface="+mn-lt"/>
              <a:cs typeface="+mn-lt"/>
            </a:endParaRPr>
          </a:p>
          <a:p>
            <a:pPr>
              <a:buNone/>
            </a:pPr>
            <a:r>
              <a:rPr lang="en-GB" sz="1400"/>
              <a:t>The strongest AI strategies are built around how the business actually operates.</a:t>
            </a:r>
            <a:endParaRPr lang="en-US" sz="1400"/>
          </a:p>
          <a:p>
            <a:pPr>
              <a:buNone/>
            </a:pPr>
            <a:r>
              <a:rPr lang="en-GB" sz="1400"/>
              <a:t>That means connecting systems, approvals, data, and decision logic into one execution layer.</a:t>
            </a:r>
          </a:p>
          <a:p>
            <a:pPr>
              <a:buNone/>
            </a:pPr>
            <a:endParaRPr lang="en-GB" sz="1400"/>
          </a:p>
          <a:p>
            <a:pPr>
              <a:buNone/>
            </a:pPr>
            <a:r>
              <a:rPr lang="en-GB" sz="1400" b="1"/>
              <a:t>Slide 6</a:t>
            </a:r>
          </a:p>
          <a:p>
            <a:pPr>
              <a:buNone/>
            </a:pPr>
            <a:r>
              <a:rPr lang="en-GB" sz="1400" b="1"/>
              <a:t>Map the workflows that need custom agent strategy </a:t>
            </a:r>
            <a:r>
              <a:rPr lang="en-GB" sz="1400" b="1" i="1"/>
              <a:t>now</a:t>
            </a:r>
            <a:endParaRPr lang="en-US" sz="1400" b="1" i="1"/>
          </a:p>
          <a:p>
            <a:pPr>
              <a:buNone/>
            </a:pPr>
            <a:r>
              <a:rPr lang="en-GB" sz="1400"/>
              <a:t>Identify where platform agents are enough and where enterprise workflows need deeper orchestration.</a:t>
            </a:r>
            <a:endParaRPr lang="en-US" sz="1400"/>
          </a:p>
          <a:p>
            <a:pPr marL="0" indent="0">
              <a:buNone/>
            </a:pPr>
            <a:endParaRPr lang="en-GB" sz="1400"/>
          </a:p>
          <a:p>
            <a:pPr>
              <a:buFont typeface="Arial" panose="020B0604020202020204" pitchFamily="34" charset="0"/>
              <a:buNone/>
            </a:pPr>
            <a:endParaRPr lang="en-GB" sz="1400"/>
          </a:p>
          <a:p>
            <a:pPr>
              <a:buFont typeface="Arial" panose="020B0604020202020204" pitchFamily="34" charset="0"/>
              <a:buNone/>
            </a:pPr>
            <a:endParaRPr lang="en-GB" sz="1400"/>
          </a:p>
          <a:p>
            <a:pPr>
              <a:buFont typeface="Arial" panose="020B0604020202020204" pitchFamily="34" charset="0"/>
              <a:buNone/>
            </a:pPr>
            <a:endParaRPr lang="en-GB" sz="1400"/>
          </a:p>
          <a:p>
            <a:pPr>
              <a:buFont typeface="Arial" panose="020B0604020202020204" pitchFamily="34" charset="0"/>
              <a:buNone/>
            </a:pPr>
            <a:endParaRPr lang="en-GB" sz="1400"/>
          </a:p>
          <a:p>
            <a:pPr>
              <a:buFont typeface="Arial" panose="020B0604020202020204" pitchFamily="34" charset="0"/>
              <a:buNone/>
            </a:pPr>
            <a:endParaRPr lang="en-GB" sz="1400"/>
          </a:p>
          <a:p>
            <a:pPr>
              <a:buFont typeface="Arial" panose="020B0604020202020204" pitchFamily="34" charset="0"/>
              <a:buNone/>
            </a:pPr>
            <a:endParaRPr lang="en-GB" sz="1400"/>
          </a:p>
          <a:p>
            <a:pPr>
              <a:buNone/>
            </a:pPr>
            <a:endParaRPr lang="en-GB" sz="1400"/>
          </a:p>
          <a:p>
            <a:pPr>
              <a:buNone/>
            </a:pPr>
            <a:endParaRPr lang="en-GB" sz="1400"/>
          </a:p>
          <a:p>
            <a:pPr>
              <a:buNone/>
            </a:pPr>
            <a:endParaRPr lang="en-GB" sz="1400"/>
          </a:p>
          <a:p>
            <a:pPr marL="0" indent="0">
              <a:buNone/>
            </a:pPr>
            <a:endParaRPr lang="en-GB" sz="1400"/>
          </a:p>
        </p:txBody>
      </p:sp>
      <p:sp>
        <p:nvSpPr>
          <p:cNvPr id="4" name="Content Placeholder 2">
            <a:extLst>
              <a:ext uri="{FF2B5EF4-FFF2-40B4-BE49-F238E27FC236}">
                <a16:creationId xmlns:a16="http://schemas.microsoft.com/office/drawing/2014/main" id="{8163D131-3734-3D21-D5DF-84C4D6338CDA}"/>
              </a:ext>
            </a:extLst>
          </p:cNvPr>
          <p:cNvSpPr txBox="1">
            <a:spLocks/>
          </p:cNvSpPr>
          <p:nvPr/>
        </p:nvSpPr>
        <p:spPr>
          <a:xfrm>
            <a:off x="297691" y="270912"/>
            <a:ext cx="10326498" cy="77059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GB" sz="3200" b="1"/>
              <a:t>Carousel: 18 May </a:t>
            </a:r>
            <a:r>
              <a:rPr lang="en-GB" sz="3200" b="1">
                <a:highlight>
                  <a:srgbClr val="008000"/>
                </a:highlight>
              </a:rPr>
              <a:t>(Posted)</a:t>
            </a:r>
          </a:p>
        </p:txBody>
      </p:sp>
    </p:spTree>
    <p:extLst>
      <p:ext uri="{BB962C8B-B14F-4D97-AF65-F5344CB8AC3E}">
        <p14:creationId xmlns:p14="http://schemas.microsoft.com/office/powerpoint/2010/main" val="116639578"/>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A9490-D9E4-8C92-5353-EB6038C714E7}"/>
              </a:ext>
            </a:extLst>
          </p:cNvPr>
          <p:cNvSpPr>
            <a:spLocks noGrp="1"/>
          </p:cNvSpPr>
          <p:nvPr>
            <p:ph type="title"/>
          </p:nvPr>
        </p:nvSpPr>
        <p:spPr/>
        <p:txBody>
          <a:bodyPr>
            <a:normAutofit/>
          </a:bodyPr>
          <a:lstStyle/>
          <a:p>
            <a:r>
              <a:rPr lang="en-GB" sz="3600" b="1"/>
              <a:t>LinkedIn Native Article: Wednesday 20 May </a:t>
            </a:r>
            <a:r>
              <a:rPr lang="en-GB" sz="3600" b="1">
                <a:highlight>
                  <a:srgbClr val="008000"/>
                </a:highlight>
              </a:rPr>
              <a:t>(Posted)</a:t>
            </a:r>
            <a:br>
              <a:rPr lang="en-GB" sz="3600"/>
            </a:br>
            <a:r>
              <a:rPr lang="en-GB" sz="3600"/>
              <a:t>Write an article on connected agentic </a:t>
            </a:r>
            <a:r>
              <a:rPr lang="en-GB" sz="3600">
                <a:ea typeface="+mj-lt"/>
                <a:cs typeface="+mj-lt"/>
              </a:rPr>
              <a:t>enterprise</a:t>
            </a:r>
            <a:endParaRPr lang="en-GB" sz="3600"/>
          </a:p>
        </p:txBody>
      </p:sp>
    </p:spTree>
    <p:extLst>
      <p:ext uri="{BB962C8B-B14F-4D97-AF65-F5344CB8AC3E}">
        <p14:creationId xmlns:p14="http://schemas.microsoft.com/office/powerpoint/2010/main" val="4168162155"/>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255D41-DD75-AD0C-4C86-26EA473EF75B}"/>
              </a:ext>
            </a:extLst>
          </p:cNvPr>
          <p:cNvSpPr>
            <a:spLocks noGrp="1"/>
          </p:cNvSpPr>
          <p:nvPr>
            <p:ph idx="1"/>
          </p:nvPr>
        </p:nvSpPr>
        <p:spPr>
          <a:xfrm>
            <a:off x="263106" y="1538078"/>
            <a:ext cx="6245525" cy="4351338"/>
          </a:xfrm>
        </p:spPr>
        <p:txBody>
          <a:bodyPr vert="horz" lIns="91440" tIns="45720" rIns="91440" bIns="45720" rtlCol="0" anchor="t">
            <a:noAutofit/>
          </a:bodyPr>
          <a:lstStyle/>
          <a:p>
            <a:pPr>
              <a:buNone/>
            </a:pPr>
            <a:r>
              <a:rPr lang="en-GB" sz="1400" b="1">
                <a:latin typeface="Aptos"/>
                <a:ea typeface="+mn-lt"/>
                <a:cs typeface="+mn-lt"/>
              </a:rPr>
              <a:t>Frame 1: </a:t>
            </a:r>
            <a:r>
              <a:rPr lang="en-GB" sz="1400">
                <a:ea typeface="+mn-lt"/>
                <a:cs typeface="+mn-lt"/>
              </a:rPr>
              <a:t>Physical AI is bridging the gap between the digital and physical worlds.</a:t>
            </a:r>
          </a:p>
          <a:p>
            <a:pPr>
              <a:buNone/>
            </a:pPr>
            <a:r>
              <a:rPr lang="en-GB" sz="1400" b="1">
                <a:latin typeface="Aptos"/>
                <a:ea typeface="+mn-lt"/>
                <a:cs typeface="+mn-lt"/>
              </a:rPr>
              <a:t>Frame 3:</a:t>
            </a:r>
            <a:r>
              <a:rPr lang="en-GB" sz="1400">
                <a:latin typeface="Aptos"/>
                <a:ea typeface="+mn-lt"/>
                <a:cs typeface="+mn-lt"/>
              </a:rPr>
              <a:t> While i</a:t>
            </a:r>
            <a:r>
              <a:rPr lang="en-GB" sz="1400">
                <a:ea typeface="+mn-lt"/>
                <a:cs typeface="+mn-lt"/>
              </a:rPr>
              <a:t>t marks a major step forward, it also raises the stakes.</a:t>
            </a:r>
          </a:p>
          <a:p>
            <a:pPr>
              <a:buNone/>
            </a:pPr>
            <a:r>
              <a:rPr lang="en-GB" sz="1400" b="1">
                <a:latin typeface="Aptos"/>
                <a:ea typeface="+mn-lt"/>
                <a:cs typeface="+mn-lt"/>
              </a:rPr>
              <a:t>Frame 4:</a:t>
            </a:r>
            <a:r>
              <a:rPr lang="en-GB" sz="1400">
                <a:latin typeface="Aptos"/>
                <a:ea typeface="+mn-lt"/>
                <a:cs typeface="+mn-lt"/>
              </a:rPr>
              <a:t> Agents are now connected to everything:</a:t>
            </a:r>
            <a:endParaRPr lang="en-GB" sz="1400">
              <a:latin typeface="Aptos"/>
            </a:endParaRPr>
          </a:p>
          <a:p>
            <a:r>
              <a:rPr lang="en-GB" sz="1400">
                <a:latin typeface="Aptos"/>
                <a:ea typeface="+mn-lt"/>
                <a:cs typeface="+mn-lt"/>
              </a:rPr>
              <a:t>Devices and sensors.</a:t>
            </a:r>
            <a:endParaRPr lang="en-GB" sz="1400">
              <a:latin typeface="Aptos"/>
            </a:endParaRPr>
          </a:p>
          <a:p>
            <a:r>
              <a:rPr lang="en-GB" sz="1400">
                <a:latin typeface="Aptos"/>
                <a:ea typeface="+mn-lt"/>
                <a:cs typeface="+mn-lt"/>
              </a:rPr>
              <a:t>Robots and labs.</a:t>
            </a:r>
            <a:endParaRPr lang="en-GB" sz="1400">
              <a:latin typeface="Aptos"/>
            </a:endParaRPr>
          </a:p>
          <a:p>
            <a:r>
              <a:rPr lang="en-GB" sz="1400">
                <a:latin typeface="Aptos"/>
                <a:ea typeface="+mn-lt"/>
                <a:cs typeface="+mn-lt"/>
              </a:rPr>
              <a:t>Factories and healthcare.</a:t>
            </a:r>
            <a:endParaRPr lang="en-GB" sz="1400">
              <a:latin typeface="Aptos"/>
            </a:endParaRPr>
          </a:p>
          <a:p>
            <a:pPr>
              <a:buNone/>
            </a:pPr>
            <a:r>
              <a:rPr lang="en-GB" sz="1400" b="1">
                <a:latin typeface="Aptos"/>
                <a:ea typeface="+mn-lt"/>
                <a:cs typeface="+mn-lt"/>
              </a:rPr>
              <a:t>Frame 5:</a:t>
            </a:r>
            <a:r>
              <a:rPr lang="en-GB" sz="1400">
                <a:latin typeface="Aptos"/>
                <a:ea typeface="+mn-lt"/>
                <a:cs typeface="+mn-lt"/>
              </a:rPr>
              <a:t> </a:t>
            </a:r>
            <a:r>
              <a:rPr lang="en-GB" sz="1400">
                <a:ea typeface="+mn-lt"/>
                <a:cs typeface="+mn-lt"/>
              </a:rPr>
              <a:t>In these settings, even minor errors can have major real-world consequences.</a:t>
            </a:r>
            <a:endParaRPr lang="en-GB" sz="1400">
              <a:latin typeface="Aptos"/>
              <a:ea typeface="+mn-lt"/>
              <a:cs typeface="+mn-lt"/>
            </a:endParaRPr>
          </a:p>
          <a:p>
            <a:pPr>
              <a:buNone/>
            </a:pPr>
            <a:r>
              <a:rPr lang="en-GB" sz="1400" b="1">
                <a:latin typeface="Aptos"/>
                <a:ea typeface="+mn-lt"/>
                <a:cs typeface="+mn-lt"/>
              </a:rPr>
              <a:t>Frame 6:</a:t>
            </a:r>
            <a:r>
              <a:rPr lang="en-GB" sz="1400">
                <a:latin typeface="Aptos"/>
                <a:ea typeface="+mn-lt"/>
                <a:cs typeface="+mn-lt"/>
              </a:rPr>
              <a:t> This is why creating physical AI demands engineering processes in which: </a:t>
            </a:r>
            <a:endParaRPr lang="en-GB" sz="1400">
              <a:latin typeface="Aptos"/>
            </a:endParaRPr>
          </a:p>
          <a:p>
            <a:pPr>
              <a:buNone/>
            </a:pPr>
            <a:r>
              <a:rPr lang="en-GB" sz="1400">
                <a:latin typeface="Aptos"/>
                <a:ea typeface="+mn-lt"/>
                <a:cs typeface="+mn-lt"/>
              </a:rPr>
              <a:t>Safety loops are essential.</a:t>
            </a:r>
            <a:endParaRPr lang="en-GB" sz="1400">
              <a:latin typeface="Aptos"/>
            </a:endParaRPr>
          </a:p>
          <a:p>
            <a:pPr>
              <a:buNone/>
            </a:pPr>
            <a:r>
              <a:rPr lang="en-GB" sz="1400">
                <a:latin typeface="Aptos"/>
                <a:ea typeface="+mn-lt"/>
                <a:cs typeface="+mn-lt"/>
              </a:rPr>
              <a:t>Validation is non-negotiable.</a:t>
            </a:r>
            <a:endParaRPr lang="en-GB" sz="1400">
              <a:latin typeface="Aptos"/>
            </a:endParaRPr>
          </a:p>
          <a:p>
            <a:pPr>
              <a:buNone/>
            </a:pPr>
            <a:r>
              <a:rPr lang="en-GB" sz="1400">
                <a:ea typeface="+mn-lt"/>
                <a:cs typeface="+mn-lt"/>
              </a:rPr>
              <a:t>Monitoring is continuous.</a:t>
            </a:r>
          </a:p>
          <a:p>
            <a:pPr>
              <a:buNone/>
            </a:pPr>
            <a:r>
              <a:rPr lang="en-GB" sz="1400" b="1">
                <a:latin typeface="Aptos"/>
                <a:ea typeface="+mn-lt"/>
                <a:cs typeface="+mn-lt"/>
              </a:rPr>
              <a:t>Frame 7: </a:t>
            </a:r>
            <a:r>
              <a:rPr lang="en-GB" sz="1400">
                <a:ea typeface="+mn-lt"/>
                <a:cs typeface="+mn-lt"/>
              </a:rPr>
              <a:t>Skip any one of these, and your AI system will become a liability</a:t>
            </a:r>
            <a:endParaRPr lang="en-GB" sz="1400">
              <a:latin typeface="Aptos"/>
            </a:endParaRPr>
          </a:p>
          <a:p>
            <a:pPr>
              <a:buNone/>
            </a:pPr>
            <a:r>
              <a:rPr lang="en-GB" sz="1400" b="1">
                <a:latin typeface="Aptos"/>
                <a:ea typeface="+mn-lt"/>
                <a:cs typeface="+mn-lt"/>
              </a:rPr>
              <a:t>Frame 8:</a:t>
            </a:r>
            <a:r>
              <a:rPr lang="en-GB" sz="1400">
                <a:latin typeface="Aptos"/>
                <a:ea typeface="+mn-lt"/>
                <a:cs typeface="+mn-lt"/>
              </a:rPr>
              <a:t> </a:t>
            </a:r>
            <a:r>
              <a:rPr lang="en-GB" sz="1400">
                <a:ea typeface="+mn-lt"/>
                <a:cs typeface="+mn-lt"/>
              </a:rPr>
              <a:t>Build Physical AI systems safely now.</a:t>
            </a:r>
            <a:endParaRPr lang="en-GB" sz="1400">
              <a:latin typeface="Aptos"/>
            </a:endParaRPr>
          </a:p>
          <a:p>
            <a:pPr>
              <a:buNone/>
            </a:pPr>
            <a:r>
              <a:rPr lang="en-GB" sz="1400">
                <a:latin typeface="Aptos"/>
                <a:ea typeface="+mn-lt"/>
                <a:cs typeface="+mn-lt"/>
              </a:rPr>
              <a:t>Get in touch.</a:t>
            </a:r>
            <a:endParaRPr lang="en-GB" sz="1400">
              <a:latin typeface="Aptos"/>
            </a:endParaRPr>
          </a:p>
          <a:p>
            <a:pPr>
              <a:buNone/>
            </a:pPr>
            <a:endParaRPr lang="en-GB" sz="1200">
              <a:latin typeface="Aptos"/>
            </a:endParaRPr>
          </a:p>
          <a:p>
            <a:pPr marL="0" indent="0">
              <a:buNone/>
            </a:pPr>
            <a:endParaRPr lang="en-GB" sz="1200">
              <a:latin typeface="Aptos"/>
            </a:endParaRPr>
          </a:p>
        </p:txBody>
      </p:sp>
      <p:sp>
        <p:nvSpPr>
          <p:cNvPr id="8" name="TextBox 7">
            <a:extLst>
              <a:ext uri="{FF2B5EF4-FFF2-40B4-BE49-F238E27FC236}">
                <a16:creationId xmlns:a16="http://schemas.microsoft.com/office/drawing/2014/main" id="{BFF2676B-BBEC-2702-7453-B6255A0A6A61}"/>
              </a:ext>
            </a:extLst>
          </p:cNvPr>
          <p:cNvSpPr txBox="1"/>
          <p:nvPr/>
        </p:nvSpPr>
        <p:spPr>
          <a:xfrm>
            <a:off x="2556" y="0"/>
            <a:ext cx="12181775" cy="25083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900" b="1"/>
              <a:t>Reel – Thursday 21 May </a:t>
            </a:r>
            <a:r>
              <a:rPr lang="en-GB" sz="2900" b="1">
                <a:highlight>
                  <a:srgbClr val="008000"/>
                </a:highlight>
              </a:rPr>
              <a:t>(Posted)</a:t>
            </a:r>
            <a:endParaRPr lang="en-US"/>
          </a:p>
          <a:p>
            <a:r>
              <a:rPr lang="en-GB" sz="2900" b="1">
                <a:ea typeface="+mn-lt"/>
                <a:cs typeface="+mn-lt"/>
              </a:rPr>
              <a:t>Physical AI is not sci-fi anymore</a:t>
            </a:r>
            <a:endParaRPr lang="en-GB" b="1">
              <a:ea typeface="+mn-lt"/>
              <a:cs typeface="+mn-lt"/>
            </a:endParaRPr>
          </a:p>
          <a:p>
            <a:r>
              <a:rPr lang="en-GB" sz="2000">
                <a:ea typeface="+mn-lt"/>
                <a:cs typeface="+mn-lt"/>
              </a:rPr>
              <a:t>Here's how to keep it from going rogue</a:t>
            </a:r>
            <a:endParaRPr lang="en-GB"/>
          </a:p>
          <a:p>
            <a:endParaRPr lang="en-GB" sz="1400"/>
          </a:p>
          <a:p>
            <a:endParaRPr lang="en-GB" sz="2900" b="1"/>
          </a:p>
          <a:p>
            <a:endParaRPr lang="en-GB"/>
          </a:p>
          <a:p>
            <a:endParaRPr lang="en-GB"/>
          </a:p>
        </p:txBody>
      </p:sp>
    </p:spTree>
    <p:extLst>
      <p:ext uri="{BB962C8B-B14F-4D97-AF65-F5344CB8AC3E}">
        <p14:creationId xmlns:p14="http://schemas.microsoft.com/office/powerpoint/2010/main" val="870949359"/>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2E67A-4EDB-4387-88BA-AB989671A178}"/>
              </a:ext>
            </a:extLst>
          </p:cNvPr>
          <p:cNvSpPr>
            <a:spLocks noGrp="1"/>
          </p:cNvSpPr>
          <p:nvPr>
            <p:ph type="title"/>
          </p:nvPr>
        </p:nvSpPr>
        <p:spPr>
          <a:xfrm>
            <a:off x="406879" y="66396"/>
            <a:ext cx="10515600" cy="637647"/>
          </a:xfrm>
        </p:spPr>
        <p:txBody>
          <a:bodyPr>
            <a:normAutofit/>
          </a:bodyPr>
          <a:lstStyle/>
          <a:p>
            <a:r>
              <a:rPr lang="en-US" sz="3200" b="1" dirty="0"/>
              <a:t>Carousel: Friday 22 May </a:t>
            </a:r>
            <a:r>
              <a:rPr lang="en-US" sz="3200" b="1">
                <a:highlight>
                  <a:srgbClr val="008000"/>
                </a:highlight>
              </a:rPr>
              <a:t>(Posted)</a:t>
            </a:r>
          </a:p>
        </p:txBody>
      </p:sp>
      <p:sp>
        <p:nvSpPr>
          <p:cNvPr id="3" name="Content Placeholder 2">
            <a:extLst>
              <a:ext uri="{FF2B5EF4-FFF2-40B4-BE49-F238E27FC236}">
                <a16:creationId xmlns:a16="http://schemas.microsoft.com/office/drawing/2014/main" id="{BF6EF791-AD06-F8CE-7421-AF584B0817C9}"/>
              </a:ext>
            </a:extLst>
          </p:cNvPr>
          <p:cNvSpPr>
            <a:spLocks noGrp="1"/>
          </p:cNvSpPr>
          <p:nvPr>
            <p:ph idx="1"/>
          </p:nvPr>
        </p:nvSpPr>
        <p:spPr>
          <a:xfrm>
            <a:off x="838200" y="696321"/>
            <a:ext cx="4821767" cy="5811837"/>
          </a:xfrm>
        </p:spPr>
        <p:txBody>
          <a:bodyPr vert="horz" lIns="91440" tIns="45720" rIns="91440" bIns="45720" rtlCol="0" anchor="t">
            <a:noAutofit/>
          </a:bodyPr>
          <a:lstStyle/>
          <a:p>
            <a:pPr marL="0" indent="0">
              <a:buNone/>
            </a:pPr>
            <a:r>
              <a:rPr lang="en-US" sz="1400" b="1"/>
              <a:t>Slide 1</a:t>
            </a:r>
          </a:p>
          <a:p>
            <a:pPr marL="0" indent="0">
              <a:buNone/>
            </a:pPr>
            <a:r>
              <a:rPr lang="en-US" sz="1400" b="1">
                <a:ea typeface="+mn-lt"/>
                <a:cs typeface="+mn-lt"/>
              </a:rPr>
              <a:t>Agents Trapped Inside Platforms Do Not Change the Enterprise</a:t>
            </a:r>
            <a:endParaRPr lang="en-US" sz="1400"/>
          </a:p>
          <a:p>
            <a:pPr marL="0" indent="0">
              <a:buNone/>
            </a:pPr>
            <a:r>
              <a:rPr lang="en-US" sz="1400">
                <a:ea typeface="+mn-lt"/>
                <a:cs typeface="+mn-lt"/>
              </a:rPr>
              <a:t>Why disconnected enterprise agents fail to create real business impact.</a:t>
            </a:r>
            <a:endParaRPr lang="en-US" sz="1400"/>
          </a:p>
          <a:p>
            <a:pPr marL="0" indent="0">
              <a:buNone/>
            </a:pPr>
            <a:r>
              <a:rPr lang="en-US" sz="1400" b="1"/>
              <a:t>Slide 2</a:t>
            </a:r>
          </a:p>
          <a:p>
            <a:pPr marL="0" indent="0">
              <a:buNone/>
            </a:pPr>
            <a:r>
              <a:rPr lang="en-US" sz="1400" b="1">
                <a:ea typeface="+mn-lt"/>
                <a:cs typeface="+mn-lt"/>
              </a:rPr>
              <a:t>Enterprise work doesn’t live in one platform</a:t>
            </a:r>
            <a:endParaRPr lang="en-US" sz="1400"/>
          </a:p>
          <a:p>
            <a:pPr marL="0" indent="0">
              <a:buNone/>
            </a:pPr>
            <a:r>
              <a:rPr lang="en-US" sz="1400">
                <a:ea typeface="+mn-lt"/>
                <a:cs typeface="+mn-lt"/>
              </a:rPr>
              <a:t>A customer issue may start in Salesforce, trigger ServiceNow, require PLM context, depend on data systems, and need human approval.</a:t>
            </a:r>
            <a:endParaRPr lang="en-US" sz="1400"/>
          </a:p>
          <a:p>
            <a:pPr marL="0" indent="0">
              <a:buNone/>
            </a:pPr>
            <a:r>
              <a:rPr lang="en-US" sz="1400" b="1">
                <a:ea typeface="+mn-lt"/>
                <a:cs typeface="+mn-lt"/>
              </a:rPr>
              <a:t>Flow:</a:t>
            </a:r>
            <a:endParaRPr lang="en-US" sz="1400"/>
          </a:p>
          <a:p>
            <a:pPr marL="0" indent="0">
              <a:buNone/>
            </a:pPr>
            <a:r>
              <a:rPr lang="en-US" sz="1400">
                <a:ea typeface="+mn-lt"/>
                <a:cs typeface="+mn-lt"/>
              </a:rPr>
              <a:t>Salesforce → ServiceNow → PLM → Data Systems → Human Approval</a:t>
            </a:r>
            <a:endParaRPr lang="en-US" sz="1400"/>
          </a:p>
          <a:p>
            <a:pPr marL="0" indent="0">
              <a:buNone/>
            </a:pPr>
            <a:r>
              <a:rPr lang="en-US" sz="1400" b="1"/>
              <a:t>Slide 3</a:t>
            </a:r>
          </a:p>
          <a:p>
            <a:pPr marL="0" indent="0">
              <a:buNone/>
            </a:pPr>
            <a:r>
              <a:rPr lang="en-US" sz="1400" b="1">
                <a:ea typeface="+mn-lt"/>
                <a:cs typeface="+mn-lt"/>
              </a:rPr>
              <a:t>Agents inside silos can’t transform the enterprise</a:t>
            </a:r>
            <a:endParaRPr lang="en-US" sz="1400"/>
          </a:p>
          <a:p>
            <a:pPr marL="0" indent="0">
              <a:buNone/>
            </a:pPr>
            <a:r>
              <a:rPr lang="en-US" sz="1400">
                <a:ea typeface="+mn-lt"/>
                <a:cs typeface="+mn-lt"/>
              </a:rPr>
              <a:t>If an agent only works inside one application, it may automate a task, but it won’t resolve the full business workflow.</a:t>
            </a:r>
            <a:endParaRPr lang="en-US" sz="1400"/>
          </a:p>
          <a:p>
            <a:pPr marL="0" indent="0">
              <a:buNone/>
            </a:pPr>
            <a:r>
              <a:rPr lang="en-US" sz="1400" b="1">
                <a:ea typeface="+mn-lt"/>
                <a:cs typeface="+mn-lt"/>
              </a:rPr>
              <a:t>Key gaps:</a:t>
            </a:r>
            <a:endParaRPr lang="en-US" sz="1400"/>
          </a:p>
          <a:p>
            <a:r>
              <a:rPr lang="en-US" sz="1400">
                <a:ea typeface="+mn-lt"/>
                <a:cs typeface="+mn-lt"/>
              </a:rPr>
              <a:t>No cross-system context</a:t>
            </a:r>
          </a:p>
          <a:p>
            <a:r>
              <a:rPr lang="en-US" sz="1400">
                <a:ea typeface="+mn-lt"/>
                <a:cs typeface="+mn-lt"/>
              </a:rPr>
              <a:t>No end-to-end action</a:t>
            </a:r>
          </a:p>
          <a:p>
            <a:r>
              <a:rPr lang="en-US" sz="1400">
                <a:ea typeface="+mn-lt"/>
                <a:cs typeface="+mn-lt"/>
              </a:rPr>
              <a:t>No human-in-the-loop coordination</a:t>
            </a:r>
            <a:endParaRPr lang="en-US" sz="1400"/>
          </a:p>
          <a:p>
            <a:pPr marL="0" indent="0">
              <a:buNone/>
            </a:pPr>
            <a:endParaRPr lang="en-US" sz="1400"/>
          </a:p>
        </p:txBody>
      </p:sp>
      <p:sp>
        <p:nvSpPr>
          <p:cNvPr id="5" name="Content Placeholder 2">
            <a:extLst>
              <a:ext uri="{FF2B5EF4-FFF2-40B4-BE49-F238E27FC236}">
                <a16:creationId xmlns:a16="http://schemas.microsoft.com/office/drawing/2014/main" id="{F53D76FB-04B1-0A58-F05A-0BE50E2BE9B7}"/>
              </a:ext>
            </a:extLst>
          </p:cNvPr>
          <p:cNvSpPr txBox="1">
            <a:spLocks/>
          </p:cNvSpPr>
          <p:nvPr/>
        </p:nvSpPr>
        <p:spPr>
          <a:xfrm>
            <a:off x="6292850" y="835025"/>
            <a:ext cx="4821767" cy="602350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b="1"/>
              <a:t>Slide 4</a:t>
            </a:r>
            <a:endParaRPr lang="en-US"/>
          </a:p>
          <a:p>
            <a:pPr marL="0" indent="0">
              <a:buNone/>
            </a:pPr>
            <a:r>
              <a:rPr lang="en-US" sz="1500" b="1">
                <a:ea typeface="+mn-lt"/>
                <a:cs typeface="+mn-lt"/>
              </a:rPr>
              <a:t>Orchestration is what changes the enterprise</a:t>
            </a:r>
          </a:p>
          <a:p>
            <a:pPr marL="0" indent="0">
              <a:buNone/>
            </a:pPr>
            <a:r>
              <a:rPr lang="en-US" sz="1500">
                <a:ea typeface="+mn-lt"/>
                <a:cs typeface="+mn-lt"/>
              </a:rPr>
              <a:t>Real impact comes from connecting systems, context, and people so agents can work across the business.</a:t>
            </a:r>
          </a:p>
          <a:p>
            <a:pPr marL="0" indent="0">
              <a:buNone/>
            </a:pPr>
            <a:r>
              <a:rPr lang="en-US" sz="1500" b="1">
                <a:ea typeface="+mn-lt"/>
                <a:cs typeface="+mn-lt"/>
              </a:rPr>
              <a:t>Three pillars:</a:t>
            </a:r>
            <a:endParaRPr lang="en-US" sz="1500"/>
          </a:p>
          <a:p>
            <a:r>
              <a:rPr lang="en-US" sz="1500">
                <a:ea typeface="+mn-lt"/>
                <a:cs typeface="+mn-lt"/>
              </a:rPr>
              <a:t>Connected systems</a:t>
            </a:r>
          </a:p>
          <a:p>
            <a:r>
              <a:rPr lang="en-US" sz="1500">
                <a:ea typeface="+mn-lt"/>
                <a:cs typeface="+mn-lt"/>
              </a:rPr>
              <a:t>Shared context</a:t>
            </a:r>
          </a:p>
          <a:p>
            <a:r>
              <a:rPr lang="en-US" sz="1500">
                <a:ea typeface="+mn-lt"/>
                <a:cs typeface="+mn-lt"/>
              </a:rPr>
              <a:t>Humans in the loop</a:t>
            </a:r>
            <a:endParaRPr lang="en-US" sz="1500"/>
          </a:p>
          <a:p>
            <a:pPr marL="0" indent="0">
              <a:buNone/>
            </a:pPr>
            <a:endParaRPr lang="en-US" sz="1500" b="1"/>
          </a:p>
          <a:p>
            <a:pPr marL="0" indent="0">
              <a:buNone/>
            </a:pPr>
            <a:r>
              <a:rPr lang="en-US" sz="1500" b="1"/>
              <a:t>Slide 5</a:t>
            </a:r>
          </a:p>
          <a:p>
            <a:pPr marL="0" indent="0">
              <a:buNone/>
            </a:pPr>
            <a:r>
              <a:rPr lang="en-US" sz="1500" b="1">
                <a:ea typeface="+mn-lt"/>
                <a:cs typeface="+mn-lt"/>
              </a:rPr>
              <a:t>Connect your agentic workflows </a:t>
            </a:r>
            <a:r>
              <a:rPr lang="en-US" sz="1500" b="1" i="1">
                <a:ea typeface="+mn-lt"/>
                <a:cs typeface="+mn-lt"/>
              </a:rPr>
              <a:t>now</a:t>
            </a:r>
            <a:endParaRPr lang="en-US" sz="1500" i="1"/>
          </a:p>
          <a:p>
            <a:pPr marL="0" indent="0">
              <a:buNone/>
            </a:pPr>
            <a:r>
              <a:rPr lang="en-US" sz="1500">
                <a:ea typeface="+mn-lt"/>
                <a:cs typeface="+mn-lt"/>
              </a:rPr>
              <a:t>Break agents out of silos and orchestrate work across systems, data, and human approvals.</a:t>
            </a:r>
          </a:p>
          <a:p>
            <a:pPr marL="0" indent="0">
              <a:buNone/>
            </a:pPr>
            <a:endParaRPr lang="en-US" sz="1500" b="1"/>
          </a:p>
        </p:txBody>
      </p:sp>
    </p:spTree>
    <p:extLst>
      <p:ext uri="{BB962C8B-B14F-4D97-AF65-F5344CB8AC3E}">
        <p14:creationId xmlns:p14="http://schemas.microsoft.com/office/powerpoint/2010/main" val="2396830160"/>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EA146-5BF6-F662-85D5-FC0F24101878}"/>
              </a:ext>
            </a:extLst>
          </p:cNvPr>
          <p:cNvSpPr>
            <a:spLocks noGrp="1"/>
          </p:cNvSpPr>
          <p:nvPr>
            <p:ph type="title"/>
          </p:nvPr>
        </p:nvSpPr>
        <p:spPr/>
        <p:txBody>
          <a:bodyPr/>
          <a:lstStyle/>
          <a:p>
            <a:r>
              <a:rPr lang="en-GB" b="1"/>
              <a:t>Reel: Solutions Now – Monday 25 May</a:t>
            </a:r>
          </a:p>
        </p:txBody>
      </p:sp>
      <p:sp>
        <p:nvSpPr>
          <p:cNvPr id="3" name="Content Placeholder 2">
            <a:extLst>
              <a:ext uri="{FF2B5EF4-FFF2-40B4-BE49-F238E27FC236}">
                <a16:creationId xmlns:a16="http://schemas.microsoft.com/office/drawing/2014/main" id="{5528100F-C9A6-B8DE-8CE9-5299DF1F3C68}"/>
              </a:ext>
            </a:extLst>
          </p:cNvPr>
          <p:cNvSpPr>
            <a:spLocks noGrp="1"/>
          </p:cNvSpPr>
          <p:nvPr>
            <p:ph idx="1"/>
          </p:nvPr>
        </p:nvSpPr>
        <p:spPr/>
        <p:txBody>
          <a:bodyPr vert="horz" lIns="91440" tIns="45720" rIns="91440" bIns="45720" rtlCol="0" anchor="t">
            <a:normAutofit/>
          </a:bodyPr>
          <a:lstStyle/>
          <a:p>
            <a:pPr marL="0" indent="0">
              <a:buNone/>
            </a:pPr>
            <a:endParaRPr lang="en-GB"/>
          </a:p>
        </p:txBody>
      </p:sp>
    </p:spTree>
    <p:extLst>
      <p:ext uri="{BB962C8B-B14F-4D97-AF65-F5344CB8AC3E}">
        <p14:creationId xmlns:p14="http://schemas.microsoft.com/office/powerpoint/2010/main" val="886994548"/>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C668A0-5D49-FF9E-30EC-F2E09EC3A11F}"/>
              </a:ext>
            </a:extLst>
          </p:cNvPr>
          <p:cNvSpPr>
            <a:spLocks noGrp="1"/>
          </p:cNvSpPr>
          <p:nvPr>
            <p:ph idx="1"/>
          </p:nvPr>
        </p:nvSpPr>
        <p:spPr>
          <a:xfrm>
            <a:off x="230557" y="901081"/>
            <a:ext cx="5656053" cy="3924522"/>
          </a:xfrm>
        </p:spPr>
        <p:txBody>
          <a:bodyPr vert="horz" lIns="91440" tIns="45720" rIns="91440" bIns="45720" rtlCol="0" anchor="t">
            <a:noAutofit/>
          </a:bodyPr>
          <a:lstStyle/>
          <a:p>
            <a:pPr>
              <a:buNone/>
            </a:pPr>
            <a:r>
              <a:rPr lang="en-GB" sz="1400" b="1">
                <a:ea typeface="+mn-lt"/>
                <a:cs typeface="+mn-lt"/>
              </a:rPr>
              <a:t>Slide 1:</a:t>
            </a:r>
            <a:endParaRPr lang="en-US" sz="1400" b="1"/>
          </a:p>
          <a:p>
            <a:pPr>
              <a:buNone/>
            </a:pPr>
            <a:r>
              <a:rPr lang="en-GB" sz="1400" b="1">
                <a:ea typeface="+mn-lt"/>
                <a:cs typeface="+mn-lt"/>
              </a:rPr>
              <a:t>Why Manufacturing’s AI Moment Is Happening in PLM, Not Just ERP</a:t>
            </a:r>
            <a:endParaRPr lang="en-GB" b="1"/>
          </a:p>
          <a:p>
            <a:pPr>
              <a:buNone/>
            </a:pPr>
            <a:r>
              <a:rPr lang="en-GB" sz="1400">
                <a:ea typeface="+mn-lt"/>
                <a:cs typeface="+mn-lt"/>
              </a:rPr>
              <a:t>AI agents need product context to support real manufacturing decisions.</a:t>
            </a:r>
            <a:endParaRPr lang="en-GB" sz="1400"/>
          </a:p>
          <a:p>
            <a:pPr>
              <a:buNone/>
            </a:pPr>
            <a:r>
              <a:rPr lang="en-GB" sz="1400" b="1">
                <a:ea typeface="+mn-lt"/>
                <a:cs typeface="+mn-lt"/>
              </a:rPr>
              <a:t>Slide 2:</a:t>
            </a:r>
            <a:endParaRPr lang="en-GB" sz="1400" b="1"/>
          </a:p>
          <a:p>
            <a:pPr>
              <a:buNone/>
            </a:pPr>
            <a:r>
              <a:rPr lang="en-GB" sz="1400">
                <a:ea typeface="+mn-lt"/>
                <a:cs typeface="+mn-lt"/>
              </a:rPr>
              <a:t>ERP helps manage business operations.</a:t>
            </a:r>
            <a:endParaRPr lang="en-GB" sz="1400"/>
          </a:p>
          <a:p>
            <a:pPr>
              <a:buNone/>
            </a:pPr>
            <a:r>
              <a:rPr lang="en-GB" sz="1400">
                <a:ea typeface="+mn-lt"/>
                <a:cs typeface="+mn-lt"/>
              </a:rPr>
              <a:t>PLM helps manage product information.</a:t>
            </a:r>
            <a:endParaRPr lang="en-GB" sz="1400"/>
          </a:p>
          <a:p>
            <a:pPr>
              <a:buNone/>
            </a:pPr>
            <a:r>
              <a:rPr lang="en-GB" sz="1400">
                <a:ea typeface="+mn-lt"/>
                <a:cs typeface="+mn-lt"/>
              </a:rPr>
              <a:t>For AI to give useful answers, it needs access to product data such as:</a:t>
            </a:r>
            <a:endParaRPr lang="en-GB" sz="1400"/>
          </a:p>
          <a:p>
            <a:pPr>
              <a:buFont typeface="Arial"/>
              <a:buChar char="•"/>
            </a:pPr>
            <a:r>
              <a:rPr lang="en-GB" sz="1400">
                <a:ea typeface="+mn-lt"/>
                <a:cs typeface="+mn-lt"/>
              </a:rPr>
              <a:t>BOMs</a:t>
            </a:r>
            <a:endParaRPr lang="en-GB" sz="1400"/>
          </a:p>
          <a:p>
            <a:pPr>
              <a:buFont typeface="Arial"/>
              <a:buChar char="•"/>
            </a:pPr>
            <a:r>
              <a:rPr lang="en-GB" sz="1400">
                <a:ea typeface="+mn-lt"/>
                <a:cs typeface="+mn-lt"/>
              </a:rPr>
              <a:t>Engineering changes</a:t>
            </a:r>
            <a:endParaRPr lang="en-GB" sz="1400"/>
          </a:p>
          <a:p>
            <a:pPr>
              <a:buFont typeface="Arial"/>
              <a:buChar char="•"/>
            </a:pPr>
            <a:r>
              <a:rPr lang="en-GB" sz="1400">
                <a:ea typeface="+mn-lt"/>
                <a:cs typeface="+mn-lt"/>
              </a:rPr>
              <a:t>CAD relationships</a:t>
            </a:r>
            <a:endParaRPr lang="en-GB" sz="1400"/>
          </a:p>
          <a:p>
            <a:pPr>
              <a:buFont typeface="Arial"/>
              <a:buChar char="•"/>
            </a:pPr>
            <a:r>
              <a:rPr lang="en-GB" sz="1400">
                <a:ea typeface="+mn-lt"/>
                <a:cs typeface="+mn-lt"/>
              </a:rPr>
              <a:t>Compliance data</a:t>
            </a:r>
            <a:endParaRPr lang="en-GB" sz="1400"/>
          </a:p>
          <a:p>
            <a:pPr>
              <a:buFont typeface="Arial"/>
              <a:buChar char="•"/>
            </a:pPr>
            <a:r>
              <a:rPr lang="en-GB" sz="1400">
                <a:ea typeface="+mn-lt"/>
                <a:cs typeface="+mn-lt"/>
              </a:rPr>
              <a:t>Product history</a:t>
            </a:r>
            <a:endParaRPr lang="en-GB" sz="1400"/>
          </a:p>
          <a:p>
            <a:pPr>
              <a:buNone/>
            </a:pPr>
            <a:endParaRPr lang="en-GB" sz="1400"/>
          </a:p>
          <a:p>
            <a:pPr marL="0" indent="0">
              <a:buNone/>
            </a:pPr>
            <a:endParaRPr lang="en-GB"/>
          </a:p>
        </p:txBody>
      </p:sp>
      <p:sp>
        <p:nvSpPr>
          <p:cNvPr id="5" name="Content Placeholder 2">
            <a:extLst>
              <a:ext uri="{FF2B5EF4-FFF2-40B4-BE49-F238E27FC236}">
                <a16:creationId xmlns:a16="http://schemas.microsoft.com/office/drawing/2014/main" id="{881842C6-ACC3-2943-D2E7-F5CEDAC325D1}"/>
              </a:ext>
            </a:extLst>
          </p:cNvPr>
          <p:cNvSpPr txBox="1">
            <a:spLocks/>
          </p:cNvSpPr>
          <p:nvPr/>
        </p:nvSpPr>
        <p:spPr>
          <a:xfrm>
            <a:off x="5907657" y="885346"/>
            <a:ext cx="5656053" cy="443760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GB" sz="1400" b="1">
                <a:ea typeface="+mn-lt"/>
                <a:cs typeface="+mn-lt"/>
              </a:rPr>
              <a:t>Slide 4: </a:t>
            </a:r>
            <a:endParaRPr lang="en-GB" sz="1400" b="1"/>
          </a:p>
          <a:p>
            <a:pPr>
              <a:buNone/>
            </a:pPr>
            <a:r>
              <a:rPr lang="en-GB" sz="1400">
                <a:ea typeface="+mn-lt"/>
                <a:cs typeface="+mn-lt"/>
              </a:rPr>
              <a:t>Most manufacturers already have the right data.</a:t>
            </a:r>
            <a:endParaRPr lang="en-GB" sz="1400"/>
          </a:p>
          <a:p>
            <a:pPr>
              <a:buNone/>
            </a:pPr>
            <a:r>
              <a:rPr lang="en-GB" sz="1400">
                <a:ea typeface="+mn-lt"/>
                <a:cs typeface="+mn-lt"/>
              </a:rPr>
              <a:t>The challenge is that this data is often spread across different systems.</a:t>
            </a:r>
          </a:p>
          <a:p>
            <a:pPr>
              <a:buNone/>
            </a:pPr>
            <a:r>
              <a:rPr lang="en-GB" sz="1400">
                <a:ea typeface="+mn-lt"/>
                <a:cs typeface="+mn-lt"/>
              </a:rPr>
              <a:t>PLM platforms like Aras, Oracle Agile, and Propel bring product, engineering, and process data together.</a:t>
            </a:r>
          </a:p>
          <a:p>
            <a:pPr>
              <a:buNone/>
            </a:pPr>
            <a:r>
              <a:rPr lang="en-GB" sz="1400">
                <a:ea typeface="+mn-lt"/>
                <a:cs typeface="+mn-lt"/>
              </a:rPr>
              <a:t>This gives AI the context it needs to work better.</a:t>
            </a:r>
            <a:endParaRPr lang="en-GB" sz="1400"/>
          </a:p>
          <a:p>
            <a:pPr>
              <a:buNone/>
            </a:pPr>
            <a:endParaRPr lang="en-GB" sz="2000"/>
          </a:p>
          <a:p>
            <a:pPr>
              <a:buFont typeface="Arial"/>
              <a:buChar char="•"/>
            </a:pPr>
            <a:endParaRPr lang="en-GB" sz="2000"/>
          </a:p>
          <a:p>
            <a:pPr>
              <a:buFont typeface="Arial" panose="020B0604020202020204" pitchFamily="34" charset="0"/>
              <a:buNone/>
            </a:pPr>
            <a:endParaRPr lang="en-GB" sz="2000"/>
          </a:p>
          <a:p>
            <a:pPr marL="0" indent="0">
              <a:buFont typeface="Arial" panose="020B0604020202020204" pitchFamily="34" charset="0"/>
              <a:buNone/>
            </a:pPr>
            <a:endParaRPr lang="en-GB"/>
          </a:p>
        </p:txBody>
      </p:sp>
      <p:sp>
        <p:nvSpPr>
          <p:cNvPr id="7" name="TextBox 6">
            <a:extLst>
              <a:ext uri="{FF2B5EF4-FFF2-40B4-BE49-F238E27FC236}">
                <a16:creationId xmlns:a16="http://schemas.microsoft.com/office/drawing/2014/main" id="{0A3AEEBA-E625-8965-93FF-F730593BD879}"/>
              </a:ext>
            </a:extLst>
          </p:cNvPr>
          <p:cNvSpPr txBox="1"/>
          <p:nvPr/>
        </p:nvSpPr>
        <p:spPr>
          <a:xfrm>
            <a:off x="5909095" y="2868283"/>
            <a:ext cx="6096000"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t>Slide 5: </a:t>
            </a:r>
          </a:p>
          <a:p>
            <a:r>
              <a:rPr lang="en-US" sz="1400"/>
              <a:t>An engineer asks: “What products are affected if this component fails compliance?” A PLM-connected AI agent can quickly show:</a:t>
            </a:r>
            <a:endParaRPr lang="en-US"/>
          </a:p>
          <a:p>
            <a:pPr>
              <a:buFont typeface=""/>
              <a:buChar char="•"/>
            </a:pPr>
            <a:r>
              <a:rPr lang="en-US" sz="1400"/>
              <a:t>Affected SKUs</a:t>
            </a:r>
          </a:p>
          <a:p>
            <a:pPr>
              <a:buFont typeface=""/>
              <a:buChar char="•"/>
            </a:pPr>
            <a:r>
              <a:rPr lang="en-US" sz="1400"/>
              <a:t>Related suppliers</a:t>
            </a:r>
          </a:p>
          <a:p>
            <a:pPr>
              <a:buFont typeface=""/>
              <a:buChar char="•"/>
            </a:pPr>
            <a:r>
              <a:rPr lang="en-US" sz="1400"/>
              <a:t>Impacted BOMs</a:t>
            </a:r>
          </a:p>
          <a:p>
            <a:pPr>
              <a:buFont typeface=""/>
              <a:buChar char="•"/>
            </a:pPr>
            <a:r>
              <a:rPr lang="en-US" sz="1400"/>
              <a:t>Suggested next steps</a:t>
            </a:r>
          </a:p>
          <a:p>
            <a:pPr marL="228600" indent="-228600"/>
            <a:r>
              <a:rPr lang="en-US" sz="1400"/>
              <a:t>This helps teams move from manual searching to faster decisions.</a:t>
            </a:r>
          </a:p>
          <a:p>
            <a:pPr algn="ctr"/>
            <a:endParaRPr lang="en-GB"/>
          </a:p>
        </p:txBody>
      </p:sp>
      <p:sp>
        <p:nvSpPr>
          <p:cNvPr id="4" name="TextBox 3">
            <a:extLst>
              <a:ext uri="{FF2B5EF4-FFF2-40B4-BE49-F238E27FC236}">
                <a16:creationId xmlns:a16="http://schemas.microsoft.com/office/drawing/2014/main" id="{02C863C4-E799-E70F-27E5-B23D5A28D1C1}"/>
              </a:ext>
            </a:extLst>
          </p:cNvPr>
          <p:cNvSpPr txBox="1"/>
          <p:nvPr/>
        </p:nvSpPr>
        <p:spPr>
          <a:xfrm>
            <a:off x="5894717" y="4952999"/>
            <a:ext cx="484516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Slide 6: </a:t>
            </a:r>
            <a:br>
              <a:rPr lang="en-US"/>
            </a:br>
            <a:r>
              <a:rPr lang="en-US" b="1">
                <a:ea typeface="+mn-lt"/>
                <a:cs typeface="+mn-lt"/>
              </a:rPr>
              <a:t>Activate PLM intelligence </a:t>
            </a:r>
            <a:r>
              <a:rPr lang="en-US" b="1" i="1">
                <a:ea typeface="+mn-lt"/>
                <a:cs typeface="+mn-lt"/>
              </a:rPr>
              <a:t>now </a:t>
            </a:r>
            <a:endParaRPr lang="en-US"/>
          </a:p>
          <a:p>
            <a:r>
              <a:rPr lang="en-US">
                <a:ea typeface="+mn-lt"/>
                <a:cs typeface="+mn-lt"/>
              </a:rPr>
              <a:t>Connect your PLM data to AI agents and turn product knowledge into faster, smarter action.</a:t>
            </a:r>
          </a:p>
          <a:p>
            <a:endParaRPr lang="en-US"/>
          </a:p>
          <a:p>
            <a:pPr algn="ctr"/>
            <a:endParaRPr lang="en-GB"/>
          </a:p>
        </p:txBody>
      </p:sp>
      <p:sp>
        <p:nvSpPr>
          <p:cNvPr id="6" name="TextBox 5">
            <a:extLst>
              <a:ext uri="{FF2B5EF4-FFF2-40B4-BE49-F238E27FC236}">
                <a16:creationId xmlns:a16="http://schemas.microsoft.com/office/drawing/2014/main" id="{2F23C380-4B04-2565-40FD-E567C097AEC4}"/>
              </a:ext>
            </a:extLst>
          </p:cNvPr>
          <p:cNvSpPr txBox="1"/>
          <p:nvPr/>
        </p:nvSpPr>
        <p:spPr>
          <a:xfrm>
            <a:off x="235549" y="4832405"/>
            <a:ext cx="566631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ea typeface="+mn-lt"/>
                <a:cs typeface="+mn-lt"/>
              </a:rPr>
              <a:t>Slide 3:</a:t>
            </a:r>
            <a:endParaRPr lang="en-US" sz="1400" b="1"/>
          </a:p>
          <a:p>
            <a:r>
              <a:rPr lang="en-GB" sz="1400">
                <a:ea typeface="+mn-lt"/>
                <a:cs typeface="+mn-lt"/>
              </a:rPr>
              <a:t>Without PLM, AI can only answer basic questions.</a:t>
            </a:r>
            <a:endParaRPr lang="en-GB" sz="1400"/>
          </a:p>
          <a:p>
            <a:r>
              <a:rPr lang="en-GB" sz="1400">
                <a:ea typeface="+mn-lt"/>
                <a:cs typeface="+mn-lt"/>
              </a:rPr>
              <a:t>With PLM, AI agents can support real product work.</a:t>
            </a:r>
            <a:endParaRPr lang="en-GB" sz="1400"/>
          </a:p>
          <a:p>
            <a:r>
              <a:rPr lang="en-GB" sz="1400">
                <a:ea typeface="+mn-lt"/>
                <a:cs typeface="+mn-lt"/>
              </a:rPr>
              <a:t>They can help teams:</a:t>
            </a:r>
          </a:p>
          <a:p>
            <a:pPr marL="285750" indent="-285750">
              <a:buFont typeface="Arial"/>
              <a:buChar char="•"/>
            </a:pPr>
            <a:r>
              <a:rPr lang="en-GB" sz="1400">
                <a:ea typeface="+mn-lt"/>
                <a:cs typeface="+mn-lt"/>
              </a:rPr>
              <a:t>Trace dependencies</a:t>
            </a:r>
          </a:p>
          <a:p>
            <a:pPr marL="285750" indent="-285750">
              <a:buFont typeface="Arial"/>
              <a:buChar char="•"/>
            </a:pPr>
            <a:r>
              <a:rPr lang="en-GB" sz="1400">
                <a:ea typeface="+mn-lt"/>
                <a:cs typeface="+mn-lt"/>
              </a:rPr>
              <a:t>Review changes</a:t>
            </a:r>
          </a:p>
          <a:p>
            <a:pPr marL="285750" indent="-285750">
              <a:buFont typeface="Arial"/>
              <a:buChar char="•"/>
            </a:pPr>
            <a:r>
              <a:rPr lang="en-GB" sz="1400">
                <a:ea typeface="+mn-lt"/>
                <a:cs typeface="+mn-lt"/>
              </a:rPr>
              <a:t>Check compliance risks</a:t>
            </a:r>
          </a:p>
          <a:p>
            <a:pPr marL="285750" indent="-285750">
              <a:buFont typeface="Arial"/>
              <a:buChar char="•"/>
            </a:pPr>
            <a:r>
              <a:rPr lang="en-GB" sz="1400">
                <a:ea typeface="+mn-lt"/>
                <a:cs typeface="+mn-lt"/>
              </a:rPr>
              <a:t>Understand BOM impact</a:t>
            </a:r>
          </a:p>
          <a:p>
            <a:pPr marL="285750" indent="-285750">
              <a:buFont typeface="Arial"/>
              <a:buChar char="•"/>
            </a:pPr>
            <a:r>
              <a:rPr lang="en-GB" sz="1400">
                <a:ea typeface="+mn-lt"/>
                <a:cs typeface="+mn-lt"/>
              </a:rPr>
              <a:t>Find product knowledge faster</a:t>
            </a:r>
            <a:endParaRPr lang="en-GB" sz="1400"/>
          </a:p>
          <a:p>
            <a:pPr algn="l"/>
            <a:endParaRPr lang="en-GB"/>
          </a:p>
        </p:txBody>
      </p:sp>
      <p:sp>
        <p:nvSpPr>
          <p:cNvPr id="8" name="TextBox 7">
            <a:extLst>
              <a:ext uri="{FF2B5EF4-FFF2-40B4-BE49-F238E27FC236}">
                <a16:creationId xmlns:a16="http://schemas.microsoft.com/office/drawing/2014/main" id="{E97FDF52-E258-7BB4-F417-2D2B9F8040F9}"/>
              </a:ext>
            </a:extLst>
          </p:cNvPr>
          <p:cNvSpPr txBox="1"/>
          <p:nvPr/>
        </p:nvSpPr>
        <p:spPr>
          <a:xfrm>
            <a:off x="229439" y="11582"/>
            <a:ext cx="11969750" cy="8723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b="1">
                <a:solidFill>
                  <a:srgbClr val="000000"/>
                </a:solidFill>
                <a:latin typeface="Aptos Display"/>
              </a:rPr>
              <a:t>Carousel: Tuesday 26</a:t>
            </a:r>
            <a:r>
              <a:rPr lang="en-GB" sz="3200" b="1" i="0" u="none" strike="noStrike" baseline="0">
                <a:solidFill>
                  <a:srgbClr val="000000"/>
                </a:solidFill>
                <a:latin typeface="Aptos Display"/>
              </a:rPr>
              <a:t> May</a:t>
            </a:r>
            <a:endParaRPr lang="en-GB"/>
          </a:p>
          <a:p>
            <a:pPr algn="ctr"/>
            <a:endParaRPr lang="en-GB"/>
          </a:p>
        </p:txBody>
      </p:sp>
    </p:spTree>
    <p:extLst>
      <p:ext uri="{BB962C8B-B14F-4D97-AF65-F5344CB8AC3E}">
        <p14:creationId xmlns:p14="http://schemas.microsoft.com/office/powerpoint/2010/main" val="4184580824"/>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6F308E-ADE8-5807-7C9E-2B8889DE40C5}"/>
              </a:ext>
            </a:extLst>
          </p:cNvPr>
          <p:cNvSpPr>
            <a:spLocks noGrp="1"/>
          </p:cNvSpPr>
          <p:nvPr>
            <p:ph idx="1"/>
          </p:nvPr>
        </p:nvSpPr>
        <p:spPr>
          <a:xfrm>
            <a:off x="4313" y="-299"/>
            <a:ext cx="6317409" cy="6852998"/>
          </a:xfrm>
        </p:spPr>
        <p:txBody>
          <a:bodyPr vert="horz" lIns="91440" tIns="45720" rIns="91440" bIns="45720" rtlCol="0" anchor="t">
            <a:normAutofit/>
          </a:bodyPr>
          <a:lstStyle/>
          <a:p>
            <a:pPr marL="0" indent="0">
              <a:buNone/>
            </a:pPr>
            <a:r>
              <a:rPr lang="en-GB" b="1"/>
              <a:t>Carousel – Wednesday 27 May</a:t>
            </a:r>
          </a:p>
          <a:p>
            <a:pPr marL="0" indent="0">
              <a:buNone/>
            </a:pPr>
            <a:endParaRPr lang="en-GB" b="1" dirty="0"/>
          </a:p>
          <a:p>
            <a:pPr marL="0" indent="0">
              <a:buNone/>
            </a:pPr>
            <a:r>
              <a:rPr lang="en-GB" sz="1800" b="1"/>
              <a:t>Slide 1                         </a:t>
            </a:r>
            <a:endParaRPr lang="en-GB" sz="1800" b="1" dirty="0"/>
          </a:p>
          <a:p>
            <a:pPr marL="0" indent="0">
              <a:buNone/>
            </a:pPr>
            <a:r>
              <a:rPr lang="en-GB" sz="1800" b="1"/>
              <a:t>Connecting three platform agents to deliver results on the factory floor     </a:t>
            </a:r>
          </a:p>
          <a:p>
            <a:pPr marL="0" indent="0">
              <a:buNone/>
            </a:pPr>
            <a:r>
              <a:rPr lang="en-GB" sz="1800" dirty="0"/>
              <a:t>Here's how a connected agentic enterprise works in manufacturing→               </a:t>
            </a:r>
            <a:r>
              <a:rPr lang="en-GB" sz="1800" dirty="0">
                <a:ea typeface="+mn-lt"/>
                <a:cs typeface="+mn-lt"/>
              </a:rPr>
              <a:t>                                                                                                                             </a:t>
            </a:r>
            <a:endParaRPr lang="en-GB" sz="1800" dirty="0"/>
          </a:p>
          <a:p>
            <a:pPr marL="0" indent="0">
              <a:buNone/>
            </a:pPr>
            <a:r>
              <a:rPr lang="en-GB" sz="1800" b="1"/>
              <a:t>Slide 2</a:t>
            </a:r>
            <a:endParaRPr lang="en-GB" sz="1800" b="1" dirty="0"/>
          </a:p>
          <a:p>
            <a:pPr marL="0" indent="0">
              <a:buNone/>
            </a:pPr>
            <a:r>
              <a:rPr lang="en-GB" sz="1800" b="1" dirty="0"/>
              <a:t>The problem starts in </a:t>
            </a:r>
            <a:r>
              <a:rPr lang="en-GB" sz="1800" b="1"/>
              <a:t>Salesfo</a:t>
            </a:r>
            <a:r>
              <a:rPr lang="en-GB" sz="1800" b="1" dirty="0"/>
              <a:t>rce</a:t>
            </a:r>
          </a:p>
          <a:p>
            <a:pPr marL="0" indent="0">
              <a:lnSpc>
                <a:spcPct val="100000"/>
              </a:lnSpc>
              <a:spcBef>
                <a:spcPts val="0"/>
              </a:spcBef>
              <a:buNone/>
            </a:pPr>
            <a:r>
              <a:rPr lang="en-GB" sz="1800">
                <a:ea typeface="+mn-lt"/>
                <a:cs typeface="+mn-lt"/>
              </a:rPr>
              <a:t>A manufacturer files a customer complaint for broken</a:t>
            </a:r>
          </a:p>
          <a:p>
            <a:pPr marL="0" indent="0">
              <a:lnSpc>
                <a:spcPct val="100000"/>
              </a:lnSpc>
              <a:spcBef>
                <a:spcPts val="0"/>
              </a:spcBef>
              <a:buNone/>
            </a:pPr>
            <a:r>
              <a:rPr lang="en-GB" sz="1800">
                <a:ea typeface="+mn-lt"/>
                <a:cs typeface="+mn-lt"/>
              </a:rPr>
              <a:t>machinery in Salesforce</a:t>
            </a:r>
            <a:endParaRPr lang="en-GB"/>
          </a:p>
          <a:p>
            <a:pPr marL="285750" indent="-285750">
              <a:lnSpc>
                <a:spcPct val="100000"/>
              </a:lnSpc>
              <a:spcBef>
                <a:spcPts val="0"/>
              </a:spcBef>
            </a:pPr>
            <a:r>
              <a:rPr lang="en-GB" sz="1800" dirty="0" err="1">
                <a:ea typeface="+mn-lt"/>
                <a:cs typeface="+mn-lt"/>
              </a:rPr>
              <a:t>Agentforce</a:t>
            </a:r>
            <a:r>
              <a:rPr lang="en-GB" sz="1800" dirty="0">
                <a:ea typeface="+mn-lt"/>
                <a:cs typeface="+mn-lt"/>
              </a:rPr>
              <a:t> automatically identifies the customer</a:t>
            </a:r>
            <a:endParaRPr lang="en-US" sz="1800" dirty="0">
              <a:ea typeface="+mn-lt"/>
              <a:cs typeface="+mn-lt"/>
            </a:endParaRPr>
          </a:p>
          <a:p>
            <a:pPr marL="285750" indent="-285750">
              <a:lnSpc>
                <a:spcPct val="100000"/>
              </a:lnSpc>
              <a:spcBef>
                <a:spcPts val="0"/>
              </a:spcBef>
            </a:pPr>
            <a:r>
              <a:rPr lang="en-GB" sz="1800">
                <a:ea typeface="+mn-lt"/>
                <a:cs typeface="+mn-lt"/>
              </a:rPr>
              <a:t>Retrieves their whole profile</a:t>
            </a:r>
            <a:endParaRPr lang="en-US" sz="1800">
              <a:ea typeface="+mn-lt"/>
              <a:cs typeface="+mn-lt"/>
            </a:endParaRPr>
          </a:p>
          <a:p>
            <a:pPr marL="0" indent="0">
              <a:lnSpc>
                <a:spcPct val="100000"/>
              </a:lnSpc>
              <a:spcBef>
                <a:spcPts val="0"/>
              </a:spcBef>
              <a:buNone/>
            </a:pPr>
            <a:endParaRPr lang="en-GB" sz="1800" dirty="0"/>
          </a:p>
          <a:p>
            <a:pPr marL="0" indent="0">
              <a:lnSpc>
                <a:spcPct val="100000"/>
              </a:lnSpc>
              <a:spcBef>
                <a:spcPts val="0"/>
              </a:spcBef>
              <a:buNone/>
            </a:pPr>
            <a:r>
              <a:rPr lang="en-GB" sz="1800" b="1"/>
              <a:t>Slide 3</a:t>
            </a:r>
            <a:endParaRPr lang="en-GB" sz="1800" b="1" dirty="0"/>
          </a:p>
          <a:p>
            <a:pPr marL="0" indent="0">
              <a:lnSpc>
                <a:spcPct val="100000"/>
              </a:lnSpc>
              <a:spcBef>
                <a:spcPts val="0"/>
              </a:spcBef>
              <a:buNone/>
            </a:pPr>
            <a:r>
              <a:rPr lang="en-GB" sz="1800" b="1"/>
              <a:t>It is moved to ServiceNow</a:t>
            </a:r>
            <a:endParaRPr lang="en-GB" sz="1800" b="1" dirty="0"/>
          </a:p>
          <a:p>
            <a:pPr marL="0" indent="0">
              <a:lnSpc>
                <a:spcPct val="100000"/>
              </a:lnSpc>
              <a:spcBef>
                <a:spcPts val="0"/>
              </a:spcBef>
              <a:buNone/>
            </a:pPr>
            <a:r>
              <a:rPr lang="en-GB" sz="1800"/>
              <a:t>ServiceNow agents step in to:</a:t>
            </a:r>
          </a:p>
          <a:p>
            <a:pPr>
              <a:lnSpc>
                <a:spcPct val="100000"/>
              </a:lnSpc>
              <a:spcBef>
                <a:spcPts val="0"/>
              </a:spcBef>
            </a:pPr>
            <a:r>
              <a:rPr lang="en-GB" sz="1800"/>
              <a:t>Check SLAs based on Salesforce data</a:t>
            </a:r>
            <a:endParaRPr lang="en-GB"/>
          </a:p>
          <a:p>
            <a:pPr>
              <a:lnSpc>
                <a:spcPct val="100000"/>
              </a:lnSpc>
              <a:spcBef>
                <a:spcPts val="0"/>
              </a:spcBef>
            </a:pPr>
            <a:r>
              <a:rPr lang="en-GB" sz="1800"/>
              <a:t>Find out the right field engineer</a:t>
            </a:r>
            <a:endParaRPr lang="en-GB"/>
          </a:p>
          <a:p>
            <a:pPr marL="0" indent="0">
              <a:buNone/>
            </a:pPr>
            <a:endParaRPr lang="en-GB" sz="1800" dirty="0"/>
          </a:p>
          <a:p>
            <a:pPr marL="0" indent="0">
              <a:buNone/>
            </a:pPr>
            <a:endParaRPr lang="en-GB" sz="1800" dirty="0"/>
          </a:p>
          <a:p>
            <a:pPr marL="0" indent="0">
              <a:buNone/>
            </a:pPr>
            <a:endParaRPr lang="en-GB" sz="1800" dirty="0"/>
          </a:p>
        </p:txBody>
      </p:sp>
      <p:sp>
        <p:nvSpPr>
          <p:cNvPr id="5" name="Content Placeholder 2">
            <a:extLst>
              <a:ext uri="{FF2B5EF4-FFF2-40B4-BE49-F238E27FC236}">
                <a16:creationId xmlns:a16="http://schemas.microsoft.com/office/drawing/2014/main" id="{B6CAD0BE-8936-0C0E-6448-74F7A35C27E7}"/>
              </a:ext>
            </a:extLst>
          </p:cNvPr>
          <p:cNvSpPr txBox="1">
            <a:spLocks/>
          </p:cNvSpPr>
          <p:nvPr/>
        </p:nvSpPr>
        <p:spPr>
          <a:xfrm>
            <a:off x="5864525" y="-121069"/>
            <a:ext cx="6331786" cy="6852998"/>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b="1" dirty="0"/>
          </a:p>
          <a:p>
            <a:pPr marL="0" indent="0">
              <a:buFont typeface="Arial" panose="020B0604020202020204" pitchFamily="34" charset="0"/>
              <a:buNone/>
            </a:pPr>
            <a:endParaRPr lang="en-GB" b="1" dirty="0"/>
          </a:p>
          <a:p>
            <a:pPr marL="0" indent="0">
              <a:buFont typeface="Arial" panose="020B0604020202020204" pitchFamily="34" charset="0"/>
              <a:buNone/>
            </a:pPr>
            <a:r>
              <a:rPr lang="en-GB" sz="1800" b="1"/>
              <a:t>Slide 4                         </a:t>
            </a:r>
            <a:endParaRPr lang="en-GB" sz="1800" b="1" dirty="0"/>
          </a:p>
          <a:p>
            <a:pPr marL="0" indent="0">
              <a:buNone/>
            </a:pPr>
            <a:r>
              <a:rPr lang="en-GB" sz="1800" b="1"/>
              <a:t>PLM adds further context       </a:t>
            </a:r>
            <a:endParaRPr lang="en-GB" sz="1800" b="1" dirty="0"/>
          </a:p>
          <a:p>
            <a:pPr marL="0" indent="0">
              <a:buNone/>
            </a:pPr>
            <a:r>
              <a:rPr lang="en-GB" sz="1800" dirty="0"/>
              <a:t>PLM agents pull the full machinery specs down to every little component              </a:t>
            </a:r>
            <a:r>
              <a:rPr lang="en-GB" sz="1800" dirty="0">
                <a:ea typeface="+mn-lt"/>
                <a:cs typeface="+mn-lt"/>
              </a:rPr>
              <a:t>                                                                                                                                </a:t>
            </a:r>
            <a:endParaRPr lang="en-GB" sz="1800" dirty="0"/>
          </a:p>
          <a:p>
            <a:pPr marL="0" indent="0">
              <a:buFont typeface="Arial" panose="020B0604020202020204" pitchFamily="34" charset="0"/>
              <a:buNone/>
            </a:pPr>
            <a:r>
              <a:rPr lang="en-GB" sz="1800" b="1"/>
              <a:t>Slide 5</a:t>
            </a:r>
          </a:p>
          <a:p>
            <a:pPr marL="0" indent="0">
              <a:buNone/>
            </a:pPr>
            <a:r>
              <a:rPr lang="en-GB" sz="1800" b="1"/>
              <a:t>AI finds pattern. Humans approve.</a:t>
            </a:r>
            <a:endParaRPr lang="en-GB" sz="1800" b="1" dirty="0"/>
          </a:p>
          <a:p>
            <a:pPr>
              <a:buNone/>
            </a:pPr>
            <a:r>
              <a:rPr lang="en-GB" sz="1800" dirty="0"/>
              <a:t>The </a:t>
            </a:r>
            <a:r>
              <a:rPr lang="en-GB" sz="1800"/>
              <a:t>final fix is done through AI with humans-in-the-loop.</a:t>
            </a:r>
            <a:endParaRPr lang="en-GB" sz="1800" dirty="0"/>
          </a:p>
          <a:p>
            <a:r>
              <a:rPr lang="en-GB" sz="1800"/>
              <a:t>An AI orchestration layers finds any recurring reasons for equipment failure</a:t>
            </a:r>
            <a:endParaRPr lang="en-GB" sz="1800" dirty="0"/>
          </a:p>
          <a:p>
            <a:r>
              <a:rPr lang="en-GB" sz="1800" dirty="0"/>
              <a:t>Human workers judge AI's recommendations to gi</a:t>
            </a:r>
            <a:r>
              <a:rPr lang="en-GB" sz="1800"/>
              <a:t>ve the final go ahead</a:t>
            </a:r>
            <a:endParaRPr lang="en-GB" sz="1800" dirty="0"/>
          </a:p>
          <a:p>
            <a:pPr>
              <a:buNone/>
            </a:pPr>
            <a:r>
              <a:rPr lang="en-GB" sz="1800" dirty="0">
                <a:ea typeface="+mn-lt"/>
                <a:cs typeface="+mn-lt"/>
              </a:rPr>
              <a:t>Every step of this process is logged and monitored under strict governance protocols</a:t>
            </a:r>
          </a:p>
          <a:p>
            <a:pPr marL="0" indent="0">
              <a:buFont typeface="Arial" panose="020B0604020202020204" pitchFamily="34" charset="0"/>
              <a:buNone/>
            </a:pPr>
            <a:r>
              <a:rPr lang="en-GB" sz="1800" b="1"/>
              <a:t>Slide 6</a:t>
            </a:r>
            <a:endParaRPr lang="en-GB" sz="1800" dirty="0"/>
          </a:p>
          <a:p>
            <a:pPr marL="0" indent="0">
              <a:buNone/>
            </a:pPr>
            <a:r>
              <a:rPr lang="en-GB" sz="1800" b="1"/>
              <a:t>Build the connected agentic enterprise you want </a:t>
            </a:r>
            <a:r>
              <a:rPr lang="en-GB" sz="1800" b="1" i="1"/>
              <a:t>now</a:t>
            </a:r>
            <a:endParaRPr lang="en-GB" sz="1800" b="1" i="1" dirty="0"/>
          </a:p>
          <a:p>
            <a:pPr marL="0" indent="0">
              <a:buNone/>
            </a:pPr>
            <a:r>
              <a:rPr lang="en-GB" sz="1800" dirty="0"/>
              <a:t>Partner with </a:t>
            </a:r>
            <a:r>
              <a:rPr lang="en-GB" sz="1800" dirty="0" err="1"/>
              <a:t>Xavor</a:t>
            </a:r>
            <a:r>
              <a:rPr lang="en-GB" sz="1800" dirty="0"/>
              <a:t> for a detailed agentic readiness assessment</a:t>
            </a:r>
          </a:p>
          <a:p>
            <a:pPr marL="0" indent="0">
              <a:buFont typeface="Arial" panose="020B0604020202020204" pitchFamily="34" charset="0"/>
              <a:buNone/>
            </a:pPr>
            <a:endParaRPr lang="en-GB" sz="1800" dirty="0"/>
          </a:p>
          <a:p>
            <a:pPr marL="0" indent="0">
              <a:buFont typeface="Arial" panose="020B0604020202020204" pitchFamily="34" charset="0"/>
              <a:buNone/>
            </a:pPr>
            <a:endParaRPr lang="en-GB" sz="1800" dirty="0"/>
          </a:p>
          <a:p>
            <a:pPr marL="0" indent="0">
              <a:buNone/>
            </a:pPr>
            <a:endParaRPr lang="en-GB" sz="1800" dirty="0"/>
          </a:p>
        </p:txBody>
      </p:sp>
    </p:spTree>
    <p:extLst>
      <p:ext uri="{BB962C8B-B14F-4D97-AF65-F5344CB8AC3E}">
        <p14:creationId xmlns:p14="http://schemas.microsoft.com/office/powerpoint/2010/main" val="2405593811"/>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May Social Media Posts</vt:lpstr>
      <vt:lpstr>Wednesday 13 May – Reel (Posted)</vt:lpstr>
      <vt:lpstr>Carousel – Thursday 14 May  (Posted)</vt:lpstr>
      <vt:lpstr>Carousel – Friday 15 May (Posted)</vt:lpstr>
      <vt:lpstr>PowerPoint Presentation</vt:lpstr>
      <vt:lpstr>LinkedIn Native Article: Wednesday 20 May (Posted) Write an article on connected agentic enterprise</vt:lpstr>
      <vt:lpstr>PowerPoint Presentation</vt:lpstr>
      <vt:lpstr>Carousel: Friday 22 May (Posted)</vt:lpstr>
      <vt:lpstr>Reel: Solutions Now – Monday 25 May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323</cp:revision>
  <dcterms:created xsi:type="dcterms:W3CDTF">2026-05-06T14:28:43Z</dcterms:created>
  <dcterms:modified xsi:type="dcterms:W3CDTF">2026-07-07T11:47:48Z</dcterms:modified>
</cp:coreProperties>
</file>